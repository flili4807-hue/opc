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2427ac292242d6" /><Relationship Type="http://schemas.openxmlformats.org/officeDocument/2006/relationships/extended-properties" Target="/docProps/app.xml" Id="R1efcd1db3f054b3e" /><Relationship Type="http://schemas.openxmlformats.org/officeDocument/2006/relationships/officeDocument" Target="/ppt/presentation.xml" Id="Rc4ff0bc645dd48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8e91090ac4618"/>
  </p:sldMasterIdLst>
  <p:notesMasterIdLst>
    <p:notesMasterId xmlns:r="http://schemas.openxmlformats.org/officeDocument/2006/relationships" r:id="R30c89e17bc0a40aa"/>
  </p:notesMasterIdLst>
  <p:sldIdLst>
    <p:sldId xmlns:r="http://schemas.openxmlformats.org/officeDocument/2006/relationships" id="256" r:id="Rd6bcaa3259194f9e"/>
    <p:sldId xmlns:r="http://schemas.openxmlformats.org/officeDocument/2006/relationships" id="257" r:id="Rebe24140e951451d"/>
    <p:sldId xmlns:r="http://schemas.openxmlformats.org/officeDocument/2006/relationships" id="258" r:id="Rae32711f537c4096"/>
    <p:sldId xmlns:r="http://schemas.openxmlformats.org/officeDocument/2006/relationships" id="259" r:id="R320c246ac9d24380"/>
    <p:sldId xmlns:r="http://schemas.openxmlformats.org/officeDocument/2006/relationships" id="260" r:id="R527321fd0c234876"/>
    <p:sldId xmlns:r="http://schemas.openxmlformats.org/officeDocument/2006/relationships" id="261" r:id="R7d1da07a9e3d44b8"/>
    <p:sldId xmlns:r="http://schemas.openxmlformats.org/officeDocument/2006/relationships" id="262" r:id="R5ab5256364ec424c"/>
    <p:sldId xmlns:r="http://schemas.openxmlformats.org/officeDocument/2006/relationships" id="263" r:id="R7796a59d98a947e1"/>
    <p:sldId xmlns:r="http://schemas.openxmlformats.org/officeDocument/2006/relationships" id="264" r:id="R361cba4d68714682"/>
    <p:sldId xmlns:r="http://schemas.openxmlformats.org/officeDocument/2006/relationships" id="265" r:id="R32242ed0a54b4d00"/>
    <p:sldId xmlns:r="http://schemas.openxmlformats.org/officeDocument/2006/relationships" id="266" r:id="R088baddaf9c640d8"/>
    <p:sldId xmlns:r="http://schemas.openxmlformats.org/officeDocument/2006/relationships" id="267" r:id="Rcb3cb8c9bbf64b22"/>
    <p:sldId xmlns:r="http://schemas.openxmlformats.org/officeDocument/2006/relationships" id="268" r:id="Rae35302ffd4b4b66"/>
    <p:sldId xmlns:r="http://schemas.openxmlformats.org/officeDocument/2006/relationships" id="269" r:id="R37afb435beb54477"/>
    <p:sldId xmlns:r="http://schemas.openxmlformats.org/officeDocument/2006/relationships" id="270" r:id="R7aa17b5295f24a68"/>
    <p:sldId xmlns:r="http://schemas.openxmlformats.org/officeDocument/2006/relationships" id="271" r:id="R1fd48609e10041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c5a6efe25e40b9" /><Relationship Type="http://schemas.openxmlformats.org/officeDocument/2006/relationships/slideMaster" Target="/ppt/slideMasters/slideMaster1.xml" Id="Rd218e91090ac4618" /><Relationship Type="http://schemas.openxmlformats.org/officeDocument/2006/relationships/notesMaster" Target="/ppt/notesMasters/notesMaster1.xml" Id="R30c89e17bc0a40aa" /><Relationship Type="http://schemas.openxmlformats.org/officeDocument/2006/relationships/presProps" Target="/ppt/presProps.xml" Id="R48ec66cd6232428f" /><Relationship Type="http://schemas.openxmlformats.org/officeDocument/2006/relationships/tableStyles" Target="/ppt/tableStyles.xml" Id="Rf245325902214819" /><Relationship Type="http://schemas.openxmlformats.org/officeDocument/2006/relationships/slide" Target="/ppt/slides/slide1.xml" Id="Rd6bcaa3259194f9e" /><Relationship Type="http://schemas.openxmlformats.org/officeDocument/2006/relationships/slide" Target="/ppt/slides/slide2.xml" Id="Rebe24140e951451d" /><Relationship Type="http://schemas.openxmlformats.org/officeDocument/2006/relationships/slide" Target="/ppt/slides/slide3.xml" Id="Rae32711f537c4096" /><Relationship Type="http://schemas.openxmlformats.org/officeDocument/2006/relationships/slide" Target="/ppt/slides/slide4.xml" Id="R320c246ac9d24380" /><Relationship Type="http://schemas.openxmlformats.org/officeDocument/2006/relationships/slide" Target="/ppt/slides/slide5.xml" Id="R527321fd0c234876" /><Relationship Type="http://schemas.openxmlformats.org/officeDocument/2006/relationships/slide" Target="/ppt/slides/slide6.xml" Id="R7d1da07a9e3d44b8" /><Relationship Type="http://schemas.openxmlformats.org/officeDocument/2006/relationships/slide" Target="/ppt/slides/slide7.xml" Id="R5ab5256364ec424c" /><Relationship Type="http://schemas.openxmlformats.org/officeDocument/2006/relationships/slide" Target="/ppt/slides/slide8.xml" Id="R7796a59d98a947e1" /><Relationship Type="http://schemas.openxmlformats.org/officeDocument/2006/relationships/slide" Target="/ppt/slides/slide9.xml" Id="R361cba4d68714682" /><Relationship Type="http://schemas.openxmlformats.org/officeDocument/2006/relationships/slide" Target="/ppt/slides/slide10.xml" Id="R32242ed0a54b4d00" /><Relationship Type="http://schemas.openxmlformats.org/officeDocument/2006/relationships/slide" Target="/ppt/slides/slide11.xml" Id="R088baddaf9c640d8" /><Relationship Type="http://schemas.openxmlformats.org/officeDocument/2006/relationships/slide" Target="/ppt/slides/slide12.xml" Id="Rcb3cb8c9bbf64b22" /><Relationship Type="http://schemas.openxmlformats.org/officeDocument/2006/relationships/slide" Target="/ppt/slides/slide13.xml" Id="Rae35302ffd4b4b66" /><Relationship Type="http://schemas.openxmlformats.org/officeDocument/2006/relationships/slide" Target="/ppt/slides/slide14.xml" Id="R37afb435beb54477" /><Relationship Type="http://schemas.openxmlformats.org/officeDocument/2006/relationships/slide" Target="/ppt/slides/slide15.xml" Id="R7aa17b5295f24a68" /><Relationship Type="http://schemas.openxmlformats.org/officeDocument/2006/relationships/slide" Target="/ppt/slides/slide16.xml" Id="R1fd48609e100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9a95d6352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d4021d3c34c13" /><Relationship Type="http://schemas.openxmlformats.org/officeDocument/2006/relationships/notesMaster" Target="/ppt/notesMasters/notesMaster1.xml" Id="R3a0096b6f4274e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e51bcfe7a4e44" /><Relationship Type="http://schemas.openxmlformats.org/officeDocument/2006/relationships/notesMaster" Target="/ppt/notesMasters/notesMaster1.xml" Id="Re368c4f1f4df4b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dade3c8720479f" /><Relationship Type="http://schemas.openxmlformats.org/officeDocument/2006/relationships/notesMaster" Target="/ppt/notesMasters/notesMaster1.xml" Id="Rf63571f9bae14b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a37bbdba044204" /><Relationship Type="http://schemas.openxmlformats.org/officeDocument/2006/relationships/notesMaster" Target="/ppt/notesMasters/notesMaster1.xml" Id="R6e437b4773104c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f5c7d33be74917" /><Relationship Type="http://schemas.openxmlformats.org/officeDocument/2006/relationships/notesMaster" Target="/ppt/notesMasters/notesMaster1.xml" Id="R8dfb50ebeac34a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fb009728d44c7a" /><Relationship Type="http://schemas.openxmlformats.org/officeDocument/2006/relationships/notesMaster" Target="/ppt/notesMasters/notesMaster1.xml" Id="R1d7e7a0b36274c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94929e5244773" /><Relationship Type="http://schemas.openxmlformats.org/officeDocument/2006/relationships/notesMaster" Target="/ppt/notesMasters/notesMaster1.xml" Id="Rba425e7a50ee41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857cc3a72429c" /><Relationship Type="http://schemas.openxmlformats.org/officeDocument/2006/relationships/notesMaster" Target="/ppt/notesMasters/notesMaster1.xml" Id="Rd5ce905cf2c044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9e79b0b554b1f" /><Relationship Type="http://schemas.openxmlformats.org/officeDocument/2006/relationships/notesMaster" Target="/ppt/notesMasters/notesMaster1.xml" Id="Rfe24f96c28fd41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012d85dfc4b90" /><Relationship Type="http://schemas.openxmlformats.org/officeDocument/2006/relationships/notesMaster" Target="/ppt/notesMasters/notesMaster1.xml" Id="R06d80a71e7a74a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2eec14a71e43cc" /><Relationship Type="http://schemas.openxmlformats.org/officeDocument/2006/relationships/notesMaster" Target="/ppt/notesMasters/notesMaster1.xml" Id="R60619d6cd46740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8617877e514253" /><Relationship Type="http://schemas.openxmlformats.org/officeDocument/2006/relationships/notesMaster" Target="/ppt/notesMasters/notesMaster1.xml" Id="R0408eeb623474e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d71707257c4587" /><Relationship Type="http://schemas.openxmlformats.org/officeDocument/2006/relationships/notesMaster" Target="/ppt/notesMasters/notesMaster1.xml" Id="R69beb3262e0745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63a62383a3459c" /><Relationship Type="http://schemas.openxmlformats.org/officeDocument/2006/relationships/notesMaster" Target="/ppt/notesMasters/notesMaster1.xml" Id="Ra902d44c899f43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0d74dc254b44f6" /><Relationship Type="http://schemas.openxmlformats.org/officeDocument/2006/relationships/notesMaster" Target="/ppt/notesMasters/notesMaster1.xml" Id="Rec6ff07ab88047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7d0fdf1ad94fb7" /><Relationship Type="http://schemas.openxmlformats.org/officeDocument/2006/relationships/notesMaster" Target="/ppt/notesMasters/notesMaster1.xml" Id="Rd38f7795700240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5bf7167634f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2c3ad604c42ab" /><Relationship Type="http://schemas.openxmlformats.org/officeDocument/2006/relationships/slideLayout" Target="/ppt/slideLayouts/slideLayout1.xml" Id="R2f48f34c822d4d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8f34c822d4d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fd8bcee4b42fa" /><Relationship Type="http://schemas.openxmlformats.org/officeDocument/2006/relationships/notesSlide" Target="/ppt/notesSlides/notesSlide1.xml" Id="R5a22f530c18d4d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8080d828a454d" /><Relationship Type="http://schemas.openxmlformats.org/officeDocument/2006/relationships/notesSlide" Target="/ppt/notesSlides/notesSlide2.xml" Id="Rcdfa5ca9b2da4e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dda06c205446f" /><Relationship Type="http://schemas.openxmlformats.org/officeDocument/2006/relationships/notesSlide" Target="/ppt/notesSlides/notesSlide3.xml" Id="Rd042342701a84e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7f21801c34d31" /><Relationship Type="http://schemas.openxmlformats.org/officeDocument/2006/relationships/notesSlide" Target="/ppt/notesSlides/notesSlide4.xml" Id="R8dc67e79e0224b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4c50bacbd462d" /><Relationship Type="http://schemas.openxmlformats.org/officeDocument/2006/relationships/notesSlide" Target="/ppt/notesSlides/notesSlide5.xml" Id="R5ab32489aff44c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8b8f4aecd4bcc" /><Relationship Type="http://schemas.openxmlformats.org/officeDocument/2006/relationships/notesSlide" Target="/ppt/notesSlides/notesSlide6.xml" Id="R1083b959783c41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b7858911e4ab3" /><Relationship Type="http://schemas.openxmlformats.org/officeDocument/2006/relationships/notesSlide" Target="/ppt/notesSlides/notesSlide7.xml" Id="R55ed0bde4d9947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9409f8572483b" /><Relationship Type="http://schemas.openxmlformats.org/officeDocument/2006/relationships/notesSlide" Target="/ppt/notesSlides/notesSlide8.xml" Id="R78408b499cd34f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ed8c0242b4b02" /><Relationship Type="http://schemas.openxmlformats.org/officeDocument/2006/relationships/notesSlide" Target="/ppt/notesSlides/notesSlide9.xml" Id="Rc83e418cf1a44d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1811147074ec0" /><Relationship Type="http://schemas.openxmlformats.org/officeDocument/2006/relationships/notesSlide" Target="/ppt/notesSlides/notesSlide10.xml" Id="Rd38a7cf0fd11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bd05d384f4d36" /><Relationship Type="http://schemas.openxmlformats.org/officeDocument/2006/relationships/notesSlide" Target="/ppt/notesSlides/notesSlide11.xml" Id="R5f9344d9dd5149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f907826774f2e" /><Relationship Type="http://schemas.openxmlformats.org/officeDocument/2006/relationships/notesSlide" Target="/ppt/notesSlides/notesSlide12.xml" Id="Raecf66b70a8444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6bf68cccd4f27" /><Relationship Type="http://schemas.openxmlformats.org/officeDocument/2006/relationships/notesSlide" Target="/ppt/notesSlides/notesSlide13.xml" Id="R14ae0946120d49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500f23b164a28" /><Relationship Type="http://schemas.openxmlformats.org/officeDocument/2006/relationships/notesSlide" Target="/ppt/notesSlides/notesSlide14.xml" Id="R11147e605a1f47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b9d83f7ee4429" /><Relationship Type="http://schemas.openxmlformats.org/officeDocument/2006/relationships/notesSlide" Target="/ppt/notesSlides/notesSlide15.xml" Id="Rb1ab60d48a4e46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4946af12e45b9" /><Relationship Type="http://schemas.openxmlformats.org/officeDocument/2006/relationships/notesSlide" Target="/ppt/notesSlides/notesSlide16.xml" Id="Re890910fd16146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27006-4AE4-476D-9F1B-E301C285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0F19"/>
                </a:solidFill>
              </a:defRPr>
            </a:pPr>
            <a:r>
              <a:rPr sz="4200" b="1">
                <a:solidFill>
                  <a:srgbClr val="0B0F19"/>
                </a:solidFill>
              </a:rPr>
              <a:t>元序AI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25BD8-5E8D-4ADB-B490-E5148F9E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</a:defRPr>
            </a:pPr>
            <a:r>
              <a:rPr sz="2100" b="0">
                <a:solidFill>
                  <a:srgbClr val="5B6472"/>
                </a:solidFill>
              </a:rPr>
              <a:t>AI协同治理平台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9699C-42A6-48E3-9F9F-E31290A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</a:defRPr>
            </a:pPr>
            <a:r>
              <a:rPr sz="3300" b="1">
                <a:solidFill>
                  <a:srgbClr val="0B0F19"/>
                </a:solidFill>
              </a:rPr>
              <a:t>面向复杂知识工作的项目管理体系诊断、Agent协同与交付治理平台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D9C01-8912-4A48-A95C-4E6E3891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北京润序数智科技有限公司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186EE-BE1F-4F29-BD42-FA17F4D5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投资人商业计划书 · 2026年7月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4B720-1321-42BD-BE0A-4D2B83A2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00100"/>
            <a:ext cx="28194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0E55B-6795-431F-B182-B1B94147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171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0F19"/>
                </a:solidFill>
              </a:defRPr>
            </a:pPr>
            <a:r>
              <a:rPr sz="2250" b="1">
                <a:solidFill>
                  <a:srgbClr val="0B0F19"/>
                </a:solidFill>
              </a:rPr>
              <a:t>不是再做一个项目管理工具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FA1FF-6FAC-4763-BDD5-F51AE381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E047A-2F06-42BB-A9C5-E0BE1B6D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而是在客户现有工具上增加一层</a:t>
            </a:r>
          </a:p>
          <a:p xmlns:a="http://schemas.openxmlformats.org/drawingml/2006/main">
            <a:pPr algn="ctr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AI治理、诊断和交付闭环</a:t>
            </a:r>
          </a:p>
        </p:txBody>
      </p:sp>
    </p:spTree>
    <p:extLst>
      <p:ext uri="{BB962C8B-B14F-4D97-AF65-F5344CB8AC3E}">
        <p14:creationId xmlns:p14="http://schemas.microsoft.com/office/powerpoint/2010/main" val="1040191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FB1CA-92E3-47E2-AC39-D4E6CCB4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D62D3-0305-4A8C-A21A-91061602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投资判断：项目管理正在从记录工具进入AI治理层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DCF01-4F64-44D3-947D-58DC963A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769B5-D5B5-4F64-8548-5D2FE5AE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A17AF-3A35-4CE6-8873-3A05F2A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2AEAC-540D-46C3-AE54-5184F5AF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0F19"/>
                </a:solidFill>
              </a:defRPr>
            </a:pPr>
            <a:r>
              <a:rPr sz="1875" b="0">
                <a:solidFill>
                  <a:srgbClr val="0B0F19"/>
                </a:solidFill>
              </a:rPr>
              <a:t>元序AI的机会不在替代飞书、Jira或禅道，而在连接这些工具，帮助企业把分散过程数据转化为可解释的管理判断和行动建议。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2E20B-1F8F-46E7-B558-835F1AA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6B35"/>
                </a:solidFill>
              </a:defRPr>
            </a:pPr>
            <a:r>
              <a:rPr sz="3900" b="1">
                <a:solidFill>
                  <a:srgbClr val="FF6B35"/>
                </a:solidFill>
              </a:rPr>
              <a:t>强痛点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B2CB9-40CF-4C6A-80D5-91C2F52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延期、返工、需求不清、风险发现晚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D474D-72EA-42BB-96AC-70E28EF9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63EB"/>
                </a:solidFill>
              </a:defRPr>
            </a:pPr>
            <a:r>
              <a:rPr sz="3900" b="1">
                <a:solidFill>
                  <a:srgbClr val="2563EB"/>
                </a:solidFill>
              </a:rPr>
              <a:t>高客单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C5348-4A46-45B4-8229-38AA8214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诊断、实施、专属云和年度订阅组合收费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06F58-8644-4AE5-9B68-5104FD3D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813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B981"/>
                </a:solidFill>
              </a:defRPr>
            </a:pPr>
            <a:r>
              <a:rPr sz="3900" b="1">
                <a:solidFill>
                  <a:srgbClr val="10B981"/>
                </a:solidFill>
              </a:rPr>
              <a:t>可扩展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620E2-3F57-44D3-AD45-C5EB6A21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67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从研发交付切入，扩展到运营、咨询、内容和客服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C63C7-4537-41E0-A060-B5129715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E88CF-B81F-40DE-ACB4-EAC2A33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核心结论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1257B-2A45-49B9-99FB-BEEAAF3A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先卖“管理改善结果”，再沉淀为标准化AI平台；先拿标杆客户验证ROI，再扩展为多场景模板市场。</a:t>
            </a:r>
          </a:p>
        </p:txBody>
      </p:sp>
    </p:spTree>
    <p:extLst>
      <p:ext uri="{BB962C8B-B14F-4D97-AF65-F5344CB8AC3E}">
        <p14:creationId xmlns:p14="http://schemas.microsoft.com/office/powerpoint/2010/main" val="1225914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F5A8B-27B3-4B45-929D-00450607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F91DC-3E12-4BCE-AA53-84F1427A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客户不是没有工具，而是缺少持续治理能力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7BE30-09BA-4768-91A1-62D943CE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6EDC2-B64E-43DE-9FB8-A80FC22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932CB-B80D-4D26-8C66-7B11239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B1944-35D1-4B0E-A94F-92D5BCC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8F310-DF84-4A7B-90AF-E40C5C7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E5FAE-1CA0-4651-9CAB-B8D86C1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需求不清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0F996-908A-4139-AFEA-83BEF7D9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PRD、需求、任务和验收标准散落在文档、表格与聊天记录中，边界不清导致反复返工。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C928D-B7A9-464C-8473-C5C73E57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D681E-7D0E-455D-A320-9B18633A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B90C3-F5EC-4EB3-86F8-C9BD8B3D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风险滞后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139D2-F7E0-4326-A98F-A15CC840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项目经理靠周会和人工追问识别风险，问题暴露时已经影响交付周期和客户满意度。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2FB83-3246-4DAA-8314-E7883922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51259-726D-40A6-A20A-B3741EB5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C6F66-6FFA-488E-84F5-50EA984A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过程不透明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2425A-E29B-40E0-ADD1-EC1D7CA4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老板看到的是汇总结果，看不到需求质量、阻塞依赖、资源瓶颈和责任链路。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A3E39-462D-4DB2-986B-3F228984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BED2F-FDB6-4271-85A7-EA3740F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AA609-64DA-4432-AE83-689146EF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复盘不沉淀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202D5-215A-470F-9BD2-6E590236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项目结束后经验留在个人脑子里，下一次仍然重复同样的错误。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F2DD2-8A21-42B6-BB23-43F621A1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C05DE-CFD5-4376-86A5-8F2FB6D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74640-F8BF-4F7C-B1F8-8109B154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工具割裂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7CC77-FE22-445A-AE8E-289C1A8F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飞书、Jira、禅道、Git、客服和知识库各管一段，缺少统一判断层。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B26D1-C482-4A87-8258-F9683BB5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05B37-6955-41F1-A8FB-E641459E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E8C79-FA26-41E4-BA14-E2E7F47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AI难落地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5E773-FA54-4EF9-8E02-B3127C6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57700"/>
            <a:ext cx="302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通用大模型能生成文本，但缺少权限、证据、流程和责任边界。</a:t>
            </a:r>
          </a:p>
        </p:txBody>
      </p:sp>
    </p:spTree>
    <p:extLst>
      <p:ext uri="{BB962C8B-B14F-4D97-AF65-F5344CB8AC3E}">
        <p14:creationId xmlns:p14="http://schemas.microsoft.com/office/powerpoint/2010/main" val="447460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DD7BE-318E-4287-A414-AD48798C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4E168-E1EB-4F62-984A-DBB96F62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市场窗口：AI让协作软件重新定义价值边界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4BBA4-3605-4122-99F7-FC55A55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F47DB-65B0-4677-B23C-E9B4F01A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A238E-D9C5-4176-97FF-5BE1849B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47588-E31B-426C-8FCC-14304B7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外部验证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ECB2A-E2F8-436A-8E90-537B7712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5035E-F724-4464-A1C2-58092ACE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697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CNNIC数据显示，截至2023年12月，中国网民规模达10.92亿，互联网普及率77.5%。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5D9E7-1AA0-4B45-9F11-8CB74C00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2476A-024C-4F2E-BB74-0E776054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697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Asana FY2025收入达7.239亿美元，超过16.9万客户使用其企业工作管理平台。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FF7ED-2FD4-41EA-A768-3D7161C1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9CC39-899C-4601-9995-E37C9A06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697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Asana明确提出AI将扩大工作管理平台的可服务工作流，验证“人机协同编排层”的方向。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069DA-C857-4AC1-A6CC-26E51630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85900"/>
            <a:ext cx="2819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A659B-EEF8-4B6A-BA1B-6410EC05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为什么现在做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A669A-95D9-437C-84B1-7D12808A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28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企业已有数字化工具</a:t>
            </a:r>
          </a:p>
          <a:p xmlns:a="http://schemas.openxmlformats.org/drawingml/2006/main">
            <a:pPr algn="ctr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但过程数据未被治理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AI能力成熟</a:t>
            </a:r>
          </a:p>
          <a:p xmlns:a="http://schemas.openxmlformats.org/drawingml/2006/main">
            <a:pPr algn="ctr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但需要场景、权限和评测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传统PMO成本高</a:t>
            </a:r>
          </a:p>
          <a:p xmlns:a="http://schemas.openxmlformats.org/drawingml/2006/main">
            <a:pPr algn="ctr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适合被Agent增强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EB5B0-CE70-4DFD-9AB8-25FBA65D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Sources: CNNIC 第53次报告；Asana FY2025 Results</a:t>
            </a:r>
          </a:p>
        </p:txBody>
      </p:sp>
    </p:spTree>
    <p:extLst>
      <p:ext uri="{BB962C8B-B14F-4D97-AF65-F5344CB8AC3E}">
        <p14:creationId xmlns:p14="http://schemas.microsoft.com/office/powerpoint/2010/main" val="1980409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88501-88B5-4F0B-AA9E-63B1B6B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F85F1-2A93-41C6-A1AD-09A07BE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首批客户应聚焦“有复杂项目、有预算、有数据基础”的组织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8026F-B041-4339-A1AB-516896BC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D98B3-A609-49A0-93E6-AB795B0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C03BE-77BA-46D6-87F0-D28B6FB3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3DEA8-CAF9-4D30-990F-7161DCEA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1B6E8-9503-4AA6-BFCB-1E6A7082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C3A52-4BEB-43FA-AAB5-B4A6E10E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软件/AI创业公司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A6A1C-A5CF-4DF1-988E-135941B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20–300人；需求变化快、项目风险高、研发和产品协作压力大。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D4A0E-3813-4F33-9DC2-CA7DA747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53645-CF5F-4AB8-A47D-8DB40F3C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26DAE-6780-4217-9A3A-E148E0A4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制造/传统企业数字化团队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50384-C123-4727-879E-9772FAC8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50–1000人；跨部门项目多、供应商协同难、过程难追溯。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40C3A-D128-4A57-9C34-67703E38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77D77-3F51-47A8-9123-C6990F21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DB4F7-EFC9-4726-AC1D-CF663FD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咨询/交付型机构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C578D-2110-4F97-8190-C9E611E9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10–200人；顾问交付依赖个人经验，报告生产和复盘成本高。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7FF8D-6CCF-41CC-AB33-C374F29F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3830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CB6F9-E63D-4E19-ADFA-7751286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383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5D078-51E0-4659-A98D-9E2BD41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47850"/>
            <a:ext cx="193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运营/内容团队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6709C-ED70-4603-8468-EB0CF8F7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86000"/>
            <a:ext cx="19335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5–100人；活动、素材、任务和复盘分散，推进靠人催。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47072-C91B-4436-ACC3-CA0CCDEB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87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5060B-567E-419A-AABD-5EB3016A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最佳早期ICP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49ED9-C19A-4272-A0F6-DF804849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正在使用飞书/表格/Jira/禅道等工具，但管理者仍无法稳定看到需求质量、交付风险、阻塞原因和改进闭环的企业团队。</a:t>
            </a:r>
          </a:p>
        </p:txBody>
      </p:sp>
    </p:spTree>
    <p:extLst>
      <p:ext uri="{BB962C8B-B14F-4D97-AF65-F5344CB8AC3E}">
        <p14:creationId xmlns:p14="http://schemas.microsoft.com/office/powerpoint/2010/main" val="981697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40D8B-05BB-4935-B649-49465CEE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6A6AF-BB7B-481F-A0A6-ECC0AABB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元序AI提供客户现有工具之上的AI治理层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12583-FE57-46A7-83D0-78418373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3D833-2F1B-459E-99DF-C07A4E1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1F1BE-2A47-4D40-99A9-63E6BDB9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7DE0B-07A9-4512-8F8D-B13D3C0E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E47E8-DDEA-4490-879E-81813B53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BEBA4-34F4-49E7-9468-EE4AD9D1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数据连接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7F407-537A-4509-80B4-0D6EA3D5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飞书、表格、Jira、禅道、Git、文档、知识库和历史项目。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CAE49-4035-40D0-96DD-9CBD409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38EC4-613F-4C06-970F-F525CB9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C8E8A-8A1C-431B-A448-C9D5B509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统一模型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98228-F3C7-43CC-A727-7ABB14C2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把需求、任务、缺陷、风险、成员、文档和产出映射为统一任务模型。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8A9AB-9741-4304-BEB7-74207C3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589ED-7637-42D1-A508-11B7D602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13960-F672-4B74-8DF6-839A7C8B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Agent协同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B779A-A4A8-4E81-9866-5B0B84F5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需求分析、风险识别、质量检查、效能分析、报告生成等Agent共同工作。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E0B04-EF08-4EE1-A83D-4A4B40A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4288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02D96-4D81-4D7E-B47F-DAEAE6E3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6A56B-FCFD-4042-B9FE-9F70F1E9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2028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治理闭环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B47EA-02E1-44CF-AFFA-7583FEC6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诊断报告、看板、建议、审批回写、通知和复盘沉淀。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33DEC-14DA-41D5-8E77-E4688FE2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719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53C06-4009-45AB-9A82-CC04C69D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连接客户已有工具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4FA84-F02D-4FE5-A375-A69A427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57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形成可解释判断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02AFF-4838-4F7D-B6C4-528DC087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输出管理行动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F510B-5925-41C8-BB14-B330A284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57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沉淀组织资产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A6446-C56A-4BEF-A067-7C5D412D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产品原则：默认只读、证据可追溯、人工审批回写、规则与模型双引擎。</a:t>
            </a:r>
          </a:p>
        </p:txBody>
      </p:sp>
    </p:spTree>
    <p:extLst>
      <p:ext uri="{BB962C8B-B14F-4D97-AF65-F5344CB8AC3E}">
        <p14:creationId xmlns:p14="http://schemas.microsoft.com/office/powerpoint/2010/main" val="866877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08734D-0EE4-45C2-BFDA-E34F62C5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8DA52-AB29-4835-BF6D-EF1DF29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产品由四个核心模块构成，先服务高价值场景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9BA97-77B6-4244-BDA3-2F479E1B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532AC-DFE3-4214-833C-D044BE98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C5C61-BA4B-4145-83DA-DEFB17D3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3A043-297F-40C3-AD99-A7E5F77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9F2BC-8D06-4B11-86E5-3E6E65C5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51AB3-D7F9-467A-82FE-C62C3440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AI协同工作台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58E5B-2AD6-4133-A084-113F9BDE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目标、任务、风险、进度、产出和复盘集中管理。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F92DB-3C0F-47BE-B238-8A2F53AA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84321-016A-46C4-8255-75875FD0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3B5FB-90FD-4126-9B89-6E83F460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Agent协同中心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E3654-DA07-42DD-8314-8A9ABE6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按任务调用需求分析、风险识别、质量检查、知识检索和报告Agent。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71322-BF53-4405-8642-4307454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A0386-2CEC-445A-942A-2A38D7F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02BDF-C847-4EE9-8814-E7B4C9BC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知识与数据底座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B0557-D8AC-4591-839A-1E6B6EA5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接入业务系统、文档和历史案例，形成可检索、可追溯上下文。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DC9E1-125C-4E38-B662-060E63E0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048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CA018-2A19-42B8-ADD6-C8B0C85A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762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2495B-92AA-4EFE-A61C-102FD0A9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报告与治理闭环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E62C9-790A-4375-A497-31F6C1E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4648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输出诊断报告、改进计划、周报、看板和复盘材料。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0C8D4-486B-4391-8896-7B62C2B9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首个标杆场景：研发交付治理；后续扩展到运营增长、咨询交付、内容生产、客户成功。</a:t>
            </a:r>
          </a:p>
        </p:txBody>
      </p:sp>
    </p:spTree>
    <p:extLst>
      <p:ext uri="{BB962C8B-B14F-4D97-AF65-F5344CB8AC3E}">
        <p14:creationId xmlns:p14="http://schemas.microsoft.com/office/powerpoint/2010/main" val="1074159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2283B-24ED-433A-8687-16E8E6DC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A95DC-5CC3-4607-8840-422C1E9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从研发交付切入，是为了拿到最明确的ROI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04780-31AE-47BC-BA25-54BAE918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DA2A3-99F7-4EE8-8EC1-AEBF2E9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4B1A-D192-4E96-AB75-B5BD00BA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43437-27E0-4C27-BDA6-13ADA4B9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切入场景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84BE3-45BE-40BB-BD07-A91FC741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18D9F-536C-4E10-A39B-9C402AA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73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客户已有需求、任务、缺陷、迭代和交付数据，容易做只读诊断。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4C6A-4D55-4599-94D7-4F9AFCE8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D15F8-AEF2-4615-BEFD-99C2D4C4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573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延期、返工、缺陷、需求变更都可以转化为可量化指标。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95676-EDE1-4BC3-B6EB-1333EA44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D1430-EC84-42F1-B34D-F7CBBDE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573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购买人通常是CEO、CTO、PMO、产品/研发负责人，预算路径清晰。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6E794-2648-4166-BC70-E75E7D02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98052-9EFA-4A6C-BB55-5DEA784C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诊断闭环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AB8B5-E92D-453D-980B-96FFDF5F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1905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需求质量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项目风险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交付透明度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改进计划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↓</a:t>
            </a:r>
          </a:p>
          <a:p xmlns:a="http://schemas.openxmlformats.org/drawingml/2006/main">
            <a:pPr algn="ctr">
              <a:defRPr sz="2175" b="1">
                <a:solidFill>
                  <a:srgbClr val="0B0F19"/>
                </a:solidFill>
              </a:defRPr>
            </a:pPr>
            <a:r>
              <a:rPr sz="2175" b="1">
                <a:solidFill>
                  <a:srgbClr val="0B0F19"/>
                </a:solidFill>
              </a:rPr>
              <a:t>复盘沉淀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5B196-ECF4-44E1-ADD5-BC5D2B1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不把公司定位锁死在研发，而是用研发交付做第一块可验证样板。</a:t>
            </a:r>
          </a:p>
        </p:txBody>
      </p:sp>
    </p:spTree>
    <p:extLst>
      <p:ext uri="{BB962C8B-B14F-4D97-AF65-F5344CB8AC3E}">
        <p14:creationId xmlns:p14="http://schemas.microsoft.com/office/powerpoint/2010/main" val="412713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3F5BB-3FDC-417E-B7FA-80C6E3CF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DF302-CE90-477F-852C-CC47413D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商业模式：服务验证价值，平台复制交付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3782F-0037-44F2-9819-03C5D52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6D9B4-B781-4042-A97B-01FF8C1B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E365B-BB82-4E39-BF13-9ADF7AB0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DD3B2-A675-4017-9310-C7EF84F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D4325-5609-41F5-8E32-A98E947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6EA39-0CC7-4094-B01E-0AA303A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诊断服务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A2B6E-5F3A-40BF-9CED-3C052F1D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1–5万元/次；交付项目健康诊断、问题清单和改进路线。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CD4CB-93E1-41C7-9DB2-BC7D5B85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03930-9681-488F-84B1-D5227E19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678F3-42F4-4D86-99D0-5E4B7FE9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实施交付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8C89C-D3BA-4F0E-A269-7880B54D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5–30万元/项目；配置流程、字段、知识库、看板和Agent。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1FFCA-FED8-4618-9440-1C135899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673B2-8C06-454C-A4A7-2304612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565DB-8716-4960-8FAA-5737FB56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平台订阅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449C4-8D69-4B53-8DF2-3E71F060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3–20万元/年；按空间、账号、连接器和Agent任务量收费。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926C9-D8CF-40A1-B279-578C5786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9E37A-89AB-40AB-A527-0480A4F1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A7CB6-C25D-4396-9C58-8A2C55B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859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专属云/私有化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F6B39-6CB0-4BE0-8163-C13AA92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2410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20–100万元+/年；满足高安全、隔离和SLA客户。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036F8-8D35-4A66-A591-0A841567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068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B88C4-754A-48FF-8888-CE9F637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关键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8C63C-9BFA-4460-BA92-469AC473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早期不做低价工具账号竞争；定价锚点应放在项目延期、返工、管理人力和客户满意度改善上。</a:t>
            </a:r>
          </a:p>
        </p:txBody>
      </p:sp>
    </p:spTree>
    <p:extLst>
      <p:ext uri="{BB962C8B-B14F-4D97-AF65-F5344CB8AC3E}">
        <p14:creationId xmlns:p14="http://schemas.microsoft.com/office/powerpoint/2010/main" val="1818507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94C5A9-6B2D-4133-A275-55534C4D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974F8-D591-471E-AD09-B57F850D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市场规模用三层口径说明，比单一宏观数字更可信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2BA3B-4695-4588-940C-8FF4FFC6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BBC34-1C46-4086-B99F-FE818CA6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E9C7C-7055-4C80-AA29-3ABF6445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E4A4A-473C-49BD-ADFC-361007A9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TAM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358DD-A001-4191-A435-173BD36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所有存在复杂协作的企业团队、机构和专业个人，属于企业协作软件、AI应用和管理咨询的交叉市场。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0EBFC-8542-4FA7-A329-DA038133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SAM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B82FA-E2F1-4794-9D70-257D9C5F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47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F19"/>
                </a:solidFill>
              </a:defRPr>
            </a:pPr>
            <a:r>
              <a:rPr sz="1725" b="0">
                <a:solidFill>
                  <a:srgbClr val="0B0F19"/>
                </a:solidFill>
              </a:rPr>
              <a:t>软件研发、数字化项目、咨询交付、内容运营等项目型组织，是最先具备数据基础和付费动机的可服务市场。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0680A-3AA8-4D2D-937C-94DD6D2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</a:defRPr>
            </a:pPr>
            <a:r>
              <a:rPr sz="2550" b="1">
                <a:solidFill>
                  <a:srgbClr val="10B981"/>
                </a:solidFill>
              </a:rPr>
              <a:t>SOM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39B57-3CF9-4BCB-A25C-B736C487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前1–2年目标20–50家企业客户；按年化10–30万元/客户，形成约200万–1500万元收入区间。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EEFA5-2DDA-4636-8891-1E6BC7B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Year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63EED-E08A-4D10-982F-33A390FB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006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76849-D4CC-46DA-89DD-FCC1AC6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00650"/>
            <a:ext cx="1504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5CE33-48EC-4EF6-90EA-F1553483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4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Year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22451-B8E7-40E9-A5A1-E6DA0BD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197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536F6-A101-45AD-AB11-436685DD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1975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06098-1076-483B-93CA-C44E8AE1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6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Year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AE345-7047-4BAA-95BA-77A9385B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46A3F-9F09-4500-B77B-E4659BE9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603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A294D-CBA1-49BC-A1D3-46A43DE8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953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示意：客户数与ARR增长，不代表承诺预测</a:t>
            </a:r>
          </a:p>
        </p:txBody>
      </p:sp>
    </p:spTree>
    <p:extLst>
      <p:ext uri="{BB962C8B-B14F-4D97-AF65-F5344CB8AC3E}">
        <p14:creationId xmlns:p14="http://schemas.microsoft.com/office/powerpoint/2010/main" val="1543078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432382-EE7C-47F5-A3D3-B8DFC4C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3C16C-9BCE-4BCD-8563-25AE5942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竞争策略：不替换工具，做上层诊断和治理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D471B-65BE-4E63-BC8A-C7844764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DD1C7-5E0D-44F5-97DA-C7762454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89FC3-51A6-4ADC-BAC3-CEB5943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C3AC1-0D51-4636-80E1-59AE969F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87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FD3D1-9215-410B-B92C-4FD7199A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替代方案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7E710-224A-4C70-8BB8-1539EEC7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客户现在怎么做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F3C5F-0D9D-42F3-97E6-8621AEFF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不足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874B5-434A-42C5-81D9-661A04FE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9B683-94A5-4EEE-B787-8DBEC936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飞书/钉钉/企微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33F58-BF68-41E4-B187-743790E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协同、审批、文档、消息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46035-12E0-4265-99F3-27CA6827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不直接给项目治理判断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8C0B2-3C4F-42E6-BC23-CBD554EA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EF1E0-1AC6-4231-9F99-2D8A269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Jira/禅道/TAPD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BBDB5-C439-4EB5-A6F8-D9295A00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需求、任务、缺陷、迭代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4C42D-E4AB-4882-A29E-3E18618E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记录强，复盘和跨项目洞察弱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753ED-2A36-42E5-9BDD-649C6AA0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6DF06-8BD0-44AF-A004-B2B5B11F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BI/数据看板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707EE-7F79-4434-9EBB-7C847D79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指标展示和趋势分析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77FA1-7991-45D2-8247-4496DF0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能看结果，难解释原因和行动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7094D-DF83-4E8D-A180-9AED5B58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0F871-6664-43A0-8B6F-B3D48AE2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管理咨询/PMO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5E516-249B-4B8F-8103-CEB59852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人工诊断、制度建设、项目跟踪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19557-857F-45B8-BCD2-CF4A399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成本高，依赖个人经验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9439C-605F-4F10-9114-B51C91B3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0687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6CC76-76C7-4831-BEE6-6AC01F6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</a:defRPr>
            </a:pPr>
            <a:r>
              <a:rPr sz="1350" b="1">
                <a:solidFill>
                  <a:srgbClr val="0B0F19"/>
                </a:solidFill>
              </a:rPr>
              <a:t>通用大模型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0FC8D-E155-4767-88A8-6CCE468B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问答、总结、报告生成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BE7F0-0872-4B31-BAF0-6F4AF0A5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缺少权限、证据和流程闭环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6C76E-3621-4BDE-A0D9-92CDF7E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19"/>
                </a:solidFill>
              </a:defRPr>
            </a:pPr>
            <a:r>
              <a:rPr sz="1875" b="1">
                <a:solidFill>
                  <a:srgbClr val="0B0F19"/>
                </a:solidFill>
              </a:rPr>
              <a:t>元序AI的差异：连接现有工具，输出证据化诊断、Agent协同建议和持续治理闭环。</a:t>
            </a:r>
          </a:p>
        </p:txBody>
      </p:sp>
    </p:spTree>
    <p:extLst>
      <p:ext uri="{BB962C8B-B14F-4D97-AF65-F5344CB8AC3E}">
        <p14:creationId xmlns:p14="http://schemas.microsoft.com/office/powerpoint/2010/main" val="16051570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1CF09-ED67-44D0-872F-04C25B7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464D2-B142-4E86-A2D1-93F356A6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技术壁垒来自业务模型、证据链和可控Agent，而不是单纯调用大模型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3DE45-0B6C-4921-9462-DBD3C868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81297-4BFF-4455-A11D-5B0FA7D5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9ACF6-1C54-4ADF-9C0D-93256ACB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A03B7-734D-40BA-9305-14E5542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C0E07-CE32-41C1-ACC5-80934EFC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FEFE6-41D7-4CC8-9522-900598CD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统一任务模型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CE9C5-A855-405E-96DE-578D685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981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沉淀目标、需求、任务、缺陷、风险、文档、人员、产出的关系图谱。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43BAA-CAAE-4794-9FAC-721D665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FB0E5-C5D5-4CD5-A085-9D7A0006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583F0-93D1-4415-B178-3D4A1E67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规则 + 模型双引擎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6CA2B-4FCD-494C-92BB-5416A3CD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86000"/>
            <a:ext cx="2981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CMMI/IPD/项目治理规则负责稳定判断，大模型负责理解、解释和建议。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6E190-1E1E-4104-BD2F-FA58D54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98F02-ADA8-4065-9FD4-7FDC040B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31D92-DDFD-41B4-8AEB-EBDE40C4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证据可追溯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7AD28-02CA-4D4E-8F70-BB7C89FC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9813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每个结论关联来源系统、字段、更新时间、模型版本和判断依据。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18BB5-50D9-44B8-BEC4-B0FBF8A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381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C31F1-03E9-46B6-8928-D9A16949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7B6D3-51C7-462C-ACB7-9666EB99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受控Agent体系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3B254-F329-4B63-A26D-A3AF9B96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981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Agent具备独立身份、权限范围、工具白名单、预算、超时和人工审批机制。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F6AE8-C5CC-46E7-A296-2DC9C039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381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85DD6-F6D0-441B-83F7-A7A4476A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BAB0C-108D-4C1E-B147-3CD98F25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2430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可部署架构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F356-AB06-4836-8879-FCA42CF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2981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SaaS、专属云、私有化共用代码基线，适配不同安全要求。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347B6-7594-42C9-870F-47CA87ED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381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F75A0-479B-496E-93FA-D25A7F15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B2D5E-F7DB-4DF4-A019-7257D62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评测与复盘数据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8FB7C-66D5-4D5B-A1F1-D162604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2981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用诊断结果、采纳率和历史项目反馈持续训练规则、模板和提示策略。</a:t>
            </a:r>
          </a:p>
        </p:txBody>
      </p:sp>
    </p:spTree>
    <p:extLst>
      <p:ext uri="{BB962C8B-B14F-4D97-AF65-F5344CB8AC3E}">
        <p14:creationId xmlns:p14="http://schemas.microsoft.com/office/powerpoint/2010/main" val="1765308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5D172-6AED-4775-943C-5D3CF19F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14C6F-3FBD-438F-92A1-B1FE51B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落地路径：用标杆客户验证，再扩展场景模板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FE56B-ABDA-40DE-BF1A-CA243716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A9572-945C-412F-9801-CECE31E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4E10E-BA23-4D7F-93D5-08A883CF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6BB6C-8C56-4F8E-A003-775E99C3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A15DF-984A-425A-B332-B0A4C33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0–3个月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0DE37-AB8F-4137-9463-D913B785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MVP与标杆试点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43379-CEE7-452A-AB7B-011E4292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飞书/表格导入、需求分析Agent、风险诊断报告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0D6F8-CF8C-4249-B6E0-1C8E0D1C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7E9DC-8737-4C8E-B3BC-DFEA0F97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3–6个月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EA5FA-9C0B-4A40-863A-09263BA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企业闭环交付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21C92-2805-4E51-9311-081F6848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连接器、知识库、看板、周报/复盘、人工审批回写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580C2-6605-4302-97D2-3BB3E330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D32FE-E40B-4CA6-9C29-86A98D5D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6–12个月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35594-59B1-4797-8EC1-92188325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产品化销售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2316C-CBF7-45D0-8671-1A859326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标准套餐、专属云部署、行业模板、客户成功流程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08ED4-8767-416E-B8F5-0B776A86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D7046-E492-497B-B759-CFF9606D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12个月+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CFE61-E371-47C8-90A7-86B1628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规模化复制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47EFF-0602-415A-A0E9-63D0F26F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433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多场景Agent市场、生态连接器、私有化交付包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03875-0FB1-4078-9A50-3319C967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第一阶段成功标准：客户愿意为诊断/实施付费，报告被管理层采纳，风险识别和周报复盘明显减少人工工作量。</a:t>
            </a:r>
          </a:p>
        </p:txBody>
      </p:sp>
    </p:spTree>
    <p:extLst>
      <p:ext uri="{BB962C8B-B14F-4D97-AF65-F5344CB8AC3E}">
        <p14:creationId xmlns:p14="http://schemas.microsoft.com/office/powerpoint/2010/main" val="4256405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726432-CB5D-4D1A-BED8-97A3ADBE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5AAD1-F3C2-4C65-B832-1FCEC8E4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团队定位：用项目治理经验驱动AI产品，而不是只做模型包装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6D2D-4DFB-4BA8-8A19-49F52C73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30413-20A0-4338-9291-FA445868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A2653-27E0-43B6-A70D-68A507F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6DE76-36AA-47B1-A1E1-89377C46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95B65-8517-4317-BFB7-89DFA431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北京润序数智科技有限公司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190A3-DB15-4CB8-84A6-A1B859B6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产品品牌：元序AI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4D497-7903-4C81-BA46-46EE268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团队能力基础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3A8E3-392E-4C51-B373-83D3E16C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项目管理体系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CMMI / IPD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需求质量评估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AI Agent产品设计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企业交付与诊断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95E48-51C7-4F79-BDBF-497DCDB2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需要补齐的关键角色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D0235-BD44-4406-AE8F-67E0D45B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E130A-9338-4E26-9BDD-AE6764E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标杆客户销售：拿下首批20–50家企业客户。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620A1-C3BB-44A3-AEC3-A5C51EE9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EFC0A-A9EA-4471-8F72-585FB8D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行业解决方案：把交付经验沉淀成可复制模板。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B3AC3-545A-48F2-A993-F8545941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1BF7A-01AA-4FCE-BB11-571DF7D4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连接器与数据工程：降低客户接入成本。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0F2B7-1D78-423B-8138-F6DE2266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1F9BC-D16B-4511-985A-5DF923A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862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模型评测与安全治理：保证Agent输出可信可控。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8BF18-DA5C-4D48-8306-61FEAF4F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6F0B3-6D04-466E-8AA7-8534E24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客户成功：持续证明ROI并推动续费。</a:t>
            </a:r>
          </a:p>
        </p:txBody>
      </p:sp>
    </p:spTree>
    <p:extLst>
      <p:ext uri="{BB962C8B-B14F-4D97-AF65-F5344CB8AC3E}">
        <p14:creationId xmlns:p14="http://schemas.microsoft.com/office/powerpoint/2010/main" val="8082318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C267A-9C0B-44C3-8F60-39584AF3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2DF46-59E4-4472-80DF-3EC2A06C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融资计划：先验证可复制的企业付费闭环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A8A3E-03CB-438A-8BE5-4CF3FD74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EB081-BE4E-4143-9F46-A102A78F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62E36-6F56-4C57-9465-5EFED167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E0A8B-6334-42CD-BC6E-6B56589B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拟融资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84BE6-0CD2-4563-8EBA-34EA89C8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0F19"/>
                </a:solidFill>
              </a:defRPr>
            </a:pPr>
            <a:r>
              <a:rPr sz="3900" b="1">
                <a:solidFill>
                  <a:srgbClr val="0B0F19"/>
                </a:solidFill>
              </a:rPr>
              <a:t>300–500万元人民币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5F995-22C3-4925-9909-D60D2AE4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金额为当前BP建议口径，可按实际融资计划调整。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7B8A-3742-4454-838B-B9E2B94B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资金用途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83D23-B5BF-43E5-94CB-5B71223F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产品研发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B87C8-859F-4A56-9D7D-2AE4EC8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89C0E-8F6E-42B5-892A-0ACDE2E8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1371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4B7A8-88F2-4ACE-8985-FB5725F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客户试点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447ED-7876-4668-ABA3-BE69D9B7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20222-2D80-4222-852F-97ACE05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1940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4EDEC-6E51-40E1-B428-A80A6EB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销售市场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18A65-8080-4C73-A5F4-71B538DE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428D8-E89D-4593-910C-856A76C6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C94BC-6FD1-4BFC-A133-8361DD8F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</a:defRPr>
            </a:pPr>
            <a:r>
              <a:rPr sz="1275" b="0">
                <a:solidFill>
                  <a:srgbClr val="0B0F19"/>
                </a:solidFill>
              </a:rPr>
              <a:t>运维合规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F0279-89BF-4A09-9DD3-1ED23B4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C7A99-DE44-4217-A8D4-D80B3ECB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9BA5C-D3B5-4E22-BE90-113C792D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0687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4FB18-E04D-4C0C-970C-20672C9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融资后12个月目标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5D564-5909-47D8-BF36-E23589AD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F19"/>
                </a:solidFill>
              </a:defRPr>
            </a:pPr>
            <a:r>
              <a:rPr sz="1950" b="1">
                <a:solidFill>
                  <a:srgbClr val="0B0F19"/>
                </a:solidFill>
              </a:rPr>
              <a:t>完成MVP、交付3–5个标杆客户、沉淀2–3个标准场景模板，形成可复制的诊断 + 平台订阅销售路径。</a:t>
            </a:r>
          </a:p>
        </p:txBody>
      </p:sp>
    </p:spTree>
    <p:extLst>
      <p:ext uri="{BB962C8B-B14F-4D97-AF65-F5344CB8AC3E}">
        <p14:creationId xmlns:p14="http://schemas.microsoft.com/office/powerpoint/2010/main" val="2025847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700E9-7BC0-49D9-937A-0047E819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BB795-6D75-48AD-A755-A7D5E6B9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投资人应关注的下一步验证问题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5A580-498B-420D-8A12-A2FABDA6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6DA42-E14C-47A8-A6A9-1FE7098F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北京润序数智科技有限公司 · 元序AI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F22DD-A56E-416E-94BC-D82054F0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B721D-5A1B-4E8D-8380-973E197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254F9-C842-4C62-BF38-5CBF6D5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BB18B-99FA-40BD-8C2D-C7D80300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客户是否愿意付费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E880E-C758-4253-8BC7-5A98213F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用3–5个标杆客户验证诊断服务、实施交付和年度订阅的真实付款意愿。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93229-F424-4E69-BFBF-D9FD5610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25EEE-6680-4150-B8C5-C1117E4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659B-D927-4FDF-AC2C-9876B54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ROI是否可量化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36F81-23B2-45E0-B189-FDA7961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用需求质量、风险提前识别、周报时间、返工率和项目复盘采纳率证明价值。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B4DE9-E58D-4173-84AF-B5C33277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7FB0A-CB59-4FB8-BA4C-BB1C29F6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49D8D-41FE-455D-B280-BFEF2B46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交付能否标准化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4A8C4-E957-43DB-87A8-915CC73F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每个项目必须沉淀字段映射、规则、模板、Agent流程和案例库，降低后续边际成本。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9F3AD-EFE5-497E-8AAC-0653DED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9"/>
                </a:solidFill>
              </a:defRPr>
            </a:pPr>
            <a:r>
              <a:rPr sz="2550" b="1">
                <a:solidFill>
                  <a:srgbClr val="0B0F19"/>
                </a:solidFill>
              </a:rPr>
              <a:t>如果这三个问题被验证，元序AI就不是一次性咨询项目，而是可以从服务型收入走向平台型收入。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346A1-5C42-4328-A1B2-A575E78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附注：本BP中的市场与融资测算用于早期沟通，需结合真实试点数据持续修正。</a:t>
            </a:r>
          </a:p>
        </p:txBody>
      </p:sp>
    </p:spTree>
    <p:extLst>
      <p:ext uri="{BB962C8B-B14F-4D97-AF65-F5344CB8AC3E}">
        <p14:creationId xmlns:p14="http://schemas.microsoft.com/office/powerpoint/2010/main" val="1094694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2026-07-09T04:33:43.8880000Z</dcterms:created>
  <dcterms:modified xsi:type="dcterms:W3CDTF">2026-07-09T04:33:43.8880000Z</dcterms:modified>
</coreProperties>
</file>