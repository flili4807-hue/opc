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0f5c532e474328" /><Relationship Type="http://schemas.openxmlformats.org/officeDocument/2006/relationships/extended-properties" Target="/docProps/app.xml" Id="Rd0b1e45fd84c4676" /><Relationship Type="http://schemas.openxmlformats.org/officeDocument/2006/relationships/officeDocument" Target="/ppt/presentation.xml" Id="R531426071b7746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e2512817b045b5"/>
  </p:sldMasterIdLst>
  <p:notesMasterIdLst>
    <p:notesMasterId xmlns:r="http://schemas.openxmlformats.org/officeDocument/2006/relationships" r:id="R27575b3231c947f8"/>
  </p:notesMasterIdLst>
  <p:sldIdLst>
    <p:sldId xmlns:r="http://schemas.openxmlformats.org/officeDocument/2006/relationships" id="256" r:id="R1296c22965814a0b"/>
    <p:sldId xmlns:r="http://schemas.openxmlformats.org/officeDocument/2006/relationships" id="257" r:id="R1c0880ae985d4a68"/>
    <p:sldId xmlns:r="http://schemas.openxmlformats.org/officeDocument/2006/relationships" id="258" r:id="Rf0897242e6e34867"/>
    <p:sldId xmlns:r="http://schemas.openxmlformats.org/officeDocument/2006/relationships" id="259" r:id="R114f9b931c6b4113"/>
    <p:sldId xmlns:r="http://schemas.openxmlformats.org/officeDocument/2006/relationships" id="260" r:id="Rdb991a8772744c25"/>
    <p:sldId xmlns:r="http://schemas.openxmlformats.org/officeDocument/2006/relationships" id="261" r:id="R31606c23d6ae4b55"/>
    <p:sldId xmlns:r="http://schemas.openxmlformats.org/officeDocument/2006/relationships" id="262" r:id="R63ba20fe2c754151"/>
    <p:sldId xmlns:r="http://schemas.openxmlformats.org/officeDocument/2006/relationships" id="263" r:id="R98cc5d9ff86c479a"/>
    <p:sldId xmlns:r="http://schemas.openxmlformats.org/officeDocument/2006/relationships" id="264" r:id="R88fe7b5c2eda4498"/>
    <p:sldId xmlns:r="http://schemas.openxmlformats.org/officeDocument/2006/relationships" id="265" r:id="R1771dad9c63049b7"/>
    <p:sldId xmlns:r="http://schemas.openxmlformats.org/officeDocument/2006/relationships" id="266" r:id="R7dd682b684ae46ac"/>
    <p:sldId xmlns:r="http://schemas.openxmlformats.org/officeDocument/2006/relationships" id="267" r:id="Rc22f9dcef0104c00"/>
    <p:sldId xmlns:r="http://schemas.openxmlformats.org/officeDocument/2006/relationships" id="268" r:id="R49c9f59b5e0e4cb7"/>
    <p:sldId xmlns:r="http://schemas.openxmlformats.org/officeDocument/2006/relationships" id="269" r:id="Rf8b39614e4fa4f6d"/>
    <p:sldId xmlns:r="http://schemas.openxmlformats.org/officeDocument/2006/relationships" id="270" r:id="R2d3bc58179434cd9"/>
    <p:sldId xmlns:r="http://schemas.openxmlformats.org/officeDocument/2006/relationships" id="271" r:id="R571965727e474b5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859608395643ab" /><Relationship Type="http://schemas.openxmlformats.org/officeDocument/2006/relationships/slideMaster" Target="/ppt/slideMasters/slideMaster1.xml" Id="Raee2512817b045b5" /><Relationship Type="http://schemas.openxmlformats.org/officeDocument/2006/relationships/notesMaster" Target="/ppt/notesMasters/notesMaster1.xml" Id="R27575b3231c947f8" /><Relationship Type="http://schemas.openxmlformats.org/officeDocument/2006/relationships/presProps" Target="/ppt/presProps.xml" Id="R0975075b324f457a" /><Relationship Type="http://schemas.openxmlformats.org/officeDocument/2006/relationships/tableStyles" Target="/ppt/tableStyles.xml" Id="Rae07a81f7e9b43a1" /><Relationship Type="http://schemas.openxmlformats.org/officeDocument/2006/relationships/slide" Target="/ppt/slides/slide1.xml" Id="R1296c22965814a0b" /><Relationship Type="http://schemas.openxmlformats.org/officeDocument/2006/relationships/slide" Target="/ppt/slides/slide2.xml" Id="R1c0880ae985d4a68" /><Relationship Type="http://schemas.openxmlformats.org/officeDocument/2006/relationships/slide" Target="/ppt/slides/slide3.xml" Id="Rf0897242e6e34867" /><Relationship Type="http://schemas.openxmlformats.org/officeDocument/2006/relationships/slide" Target="/ppt/slides/slide4.xml" Id="R114f9b931c6b4113" /><Relationship Type="http://schemas.openxmlformats.org/officeDocument/2006/relationships/slide" Target="/ppt/slides/slide5.xml" Id="Rdb991a8772744c25" /><Relationship Type="http://schemas.openxmlformats.org/officeDocument/2006/relationships/slide" Target="/ppt/slides/slide6.xml" Id="R31606c23d6ae4b55" /><Relationship Type="http://schemas.openxmlformats.org/officeDocument/2006/relationships/slide" Target="/ppt/slides/slide7.xml" Id="R63ba20fe2c754151" /><Relationship Type="http://schemas.openxmlformats.org/officeDocument/2006/relationships/slide" Target="/ppt/slides/slide8.xml" Id="R98cc5d9ff86c479a" /><Relationship Type="http://schemas.openxmlformats.org/officeDocument/2006/relationships/slide" Target="/ppt/slides/slide9.xml" Id="R88fe7b5c2eda4498" /><Relationship Type="http://schemas.openxmlformats.org/officeDocument/2006/relationships/slide" Target="/ppt/slides/slide10.xml" Id="R1771dad9c63049b7" /><Relationship Type="http://schemas.openxmlformats.org/officeDocument/2006/relationships/slide" Target="/ppt/slides/slide11.xml" Id="R7dd682b684ae46ac" /><Relationship Type="http://schemas.openxmlformats.org/officeDocument/2006/relationships/slide" Target="/ppt/slides/slide12.xml" Id="Rc22f9dcef0104c00" /><Relationship Type="http://schemas.openxmlformats.org/officeDocument/2006/relationships/slide" Target="/ppt/slides/slide13.xml" Id="R49c9f59b5e0e4cb7" /><Relationship Type="http://schemas.openxmlformats.org/officeDocument/2006/relationships/slide" Target="/ppt/slides/slide14.xml" Id="Rf8b39614e4fa4f6d" /><Relationship Type="http://schemas.openxmlformats.org/officeDocument/2006/relationships/slide" Target="/ppt/slides/slide15.xml" Id="R2d3bc58179434cd9" /><Relationship Type="http://schemas.openxmlformats.org/officeDocument/2006/relationships/slide" Target="/ppt/slides/slide16.xml" Id="R571965727e474b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1da503a32841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019443ec8c40ad" /><Relationship Type="http://schemas.openxmlformats.org/officeDocument/2006/relationships/notesMaster" Target="/ppt/notesMasters/notesMaster1.xml" Id="R1c56b6525a5e4d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816b54c5844068" /><Relationship Type="http://schemas.openxmlformats.org/officeDocument/2006/relationships/notesMaster" Target="/ppt/notesMasters/notesMaster1.xml" Id="Rdf5391fe0f2444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e180be32304be2" /><Relationship Type="http://schemas.openxmlformats.org/officeDocument/2006/relationships/notesMaster" Target="/ppt/notesMasters/notesMaster1.xml" Id="Re4c952785afb45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2adbbc665c413c" /><Relationship Type="http://schemas.openxmlformats.org/officeDocument/2006/relationships/notesMaster" Target="/ppt/notesMasters/notesMaster1.xml" Id="R0337f6e75baf4c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3ba12b63fa4092" /><Relationship Type="http://schemas.openxmlformats.org/officeDocument/2006/relationships/notesMaster" Target="/ppt/notesMasters/notesMaster1.xml" Id="R57ce2d627eee45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350d5722884a9b" /><Relationship Type="http://schemas.openxmlformats.org/officeDocument/2006/relationships/notesMaster" Target="/ppt/notesMasters/notesMaster1.xml" Id="R57d93160427441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6f07cebb4944b2" /><Relationship Type="http://schemas.openxmlformats.org/officeDocument/2006/relationships/notesMaster" Target="/ppt/notesMasters/notesMaster1.xml" Id="Rac386308ab264f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30d82e61134724" /><Relationship Type="http://schemas.openxmlformats.org/officeDocument/2006/relationships/notesMaster" Target="/ppt/notesMasters/notesMaster1.xml" Id="Rdc61bf80597341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50bc979f2a4f18" /><Relationship Type="http://schemas.openxmlformats.org/officeDocument/2006/relationships/notesMaster" Target="/ppt/notesMasters/notesMaster1.xml" Id="R48bdd0578fa848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fd0efbe9be4add" /><Relationship Type="http://schemas.openxmlformats.org/officeDocument/2006/relationships/notesMaster" Target="/ppt/notesMasters/notesMaster1.xml" Id="R97de93f7b0f048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42cd5806c4418b" /><Relationship Type="http://schemas.openxmlformats.org/officeDocument/2006/relationships/notesMaster" Target="/ppt/notesMasters/notesMaster1.xml" Id="R1b116759705141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2c612d84d4f490c" /><Relationship Type="http://schemas.openxmlformats.org/officeDocument/2006/relationships/notesMaster" Target="/ppt/notesMasters/notesMaster1.xml" Id="R3366c483c89c457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c754386f10c4475" /><Relationship Type="http://schemas.openxmlformats.org/officeDocument/2006/relationships/notesMaster" Target="/ppt/notesMasters/notesMaster1.xml" Id="R3df64e5a403f42b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5846edcfe324433" /><Relationship Type="http://schemas.openxmlformats.org/officeDocument/2006/relationships/notesMaster" Target="/ppt/notesMasters/notesMaster1.xml" Id="R15e1c31af51c407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b3e4e5824ab4e52" /><Relationship Type="http://schemas.openxmlformats.org/officeDocument/2006/relationships/notesMaster" Target="/ppt/notesMasters/notesMaster1.xml" Id="Rf48e796769284d7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92584fbab6245ac" /><Relationship Type="http://schemas.openxmlformats.org/officeDocument/2006/relationships/notesMaster" Target="/ppt/notesMasters/notesMaster1.xml" Id="R8f5cb10241d44e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ababc4b5a940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31b52d004c4043" /><Relationship Type="http://schemas.openxmlformats.org/officeDocument/2006/relationships/slideLayout" Target="/ppt/slideLayouts/slideLayout1.xml" Id="R5c478b300d4446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478b300d4446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2c400435542fb" /><Relationship Type="http://schemas.openxmlformats.org/officeDocument/2006/relationships/notesSlide" Target="/ppt/notesSlides/notesSlide1.xml" Id="R059a273a083b45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8c4377e5c24326" /><Relationship Type="http://schemas.openxmlformats.org/officeDocument/2006/relationships/notesSlide" Target="/ppt/notesSlides/notesSlide2.xml" Id="R55b34108139e4e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847a349a24a68" /><Relationship Type="http://schemas.openxmlformats.org/officeDocument/2006/relationships/notesSlide" Target="/ppt/notesSlides/notesSlide3.xml" Id="R8755143d103045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63827f08a4349" /><Relationship Type="http://schemas.openxmlformats.org/officeDocument/2006/relationships/notesSlide" Target="/ppt/notesSlides/notesSlide4.xml" Id="Rf5b95ebfd55943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af347bb9346b7" /><Relationship Type="http://schemas.openxmlformats.org/officeDocument/2006/relationships/notesSlide" Target="/ppt/notesSlides/notesSlide5.xml" Id="Rbc5a8895615447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9a003906347bb" /><Relationship Type="http://schemas.openxmlformats.org/officeDocument/2006/relationships/notesSlide" Target="/ppt/notesSlides/notesSlide6.xml" Id="Rc2a47041fdce40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3071973724849" /><Relationship Type="http://schemas.openxmlformats.org/officeDocument/2006/relationships/notesSlide" Target="/ppt/notesSlides/notesSlide7.xml" Id="R152b19052f7047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f0f02d8a140f2" /><Relationship Type="http://schemas.openxmlformats.org/officeDocument/2006/relationships/notesSlide" Target="/ppt/notesSlides/notesSlide8.xml" Id="Rf27bc332d4df40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44ec0259c84151" /><Relationship Type="http://schemas.openxmlformats.org/officeDocument/2006/relationships/notesSlide" Target="/ppt/notesSlides/notesSlide9.xml" Id="Rf11cf5827a4442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57ca8b06e4dd4" /><Relationship Type="http://schemas.openxmlformats.org/officeDocument/2006/relationships/notesSlide" Target="/ppt/notesSlides/notesSlide10.xml" Id="Ra77d4de31b7c4a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3962f35074078" /><Relationship Type="http://schemas.openxmlformats.org/officeDocument/2006/relationships/notesSlide" Target="/ppt/notesSlides/notesSlide11.xml" Id="R29f477911c3e465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ba8ffa1424779" /><Relationship Type="http://schemas.openxmlformats.org/officeDocument/2006/relationships/notesSlide" Target="/ppt/notesSlides/notesSlide12.xml" Id="R4fe855d8fbbf462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e1bb731e3d46b6" /><Relationship Type="http://schemas.openxmlformats.org/officeDocument/2006/relationships/notesSlide" Target="/ppt/notesSlides/notesSlide13.xml" Id="Reb68a5290c0643b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e6a0b8aa6a488c" /><Relationship Type="http://schemas.openxmlformats.org/officeDocument/2006/relationships/notesSlide" Target="/ppt/notesSlides/notesSlide14.xml" Id="Rd12c9d66cb454b1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ad709e7b3445a5" /><Relationship Type="http://schemas.openxmlformats.org/officeDocument/2006/relationships/notesSlide" Target="/ppt/notesSlides/notesSlide15.xml" Id="R52d7ca3884ed4c4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501b9c99a43f8" /><Relationship Type="http://schemas.openxmlformats.org/officeDocument/2006/relationships/notesSlide" Target="/ppt/notesSlides/notesSlide16.xml" Id="R5c47f05f09a544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9CB22C-22E6-4E65-841D-7861A1C6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B0F19"/>
                </a:solidFill>
              </a:defRPr>
            </a:pPr>
            <a:r>
              <a:rPr sz="4200" b="1">
                <a:solidFill>
                  <a:srgbClr val="0B0F19"/>
                </a:solidFill>
              </a:rPr>
              <a:t>润序数智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324DE-A4F0-40F9-8582-3536CE99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B6472"/>
                </a:solidFill>
              </a:defRPr>
            </a:pPr>
            <a:r>
              <a:rPr sz="2100" b="0">
                <a:solidFill>
                  <a:srgbClr val="5B6472"/>
                </a:solidFill>
              </a:rPr>
              <a:t>AI协同治理平台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BC322C-FEFE-471F-8114-38A3F4F4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F19"/>
                </a:solidFill>
              </a:defRPr>
            </a:pPr>
            <a:r>
              <a:rPr sz="3225" b="1">
                <a:solidFill>
                  <a:srgbClr val="0B0F19"/>
                </a:solidFill>
              </a:rPr>
              <a:t>面向复杂知识工作的项目管理体系诊断、项目Delay预警与Agent协同治理平台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73937E-3476-469B-A86D-B9F793DA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530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北京润序数智科技有限公司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C17F6E-9696-48E5-B4CA-67E884C5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投资人商业计划书 · 2026年7月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0E9B4-F256-408E-A80F-5AD6CAB0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00100"/>
            <a:ext cx="28194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A2766A-E995-41C4-8A22-43155389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28750"/>
            <a:ext cx="2171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0F19"/>
                </a:solidFill>
              </a:defRPr>
            </a:pPr>
            <a:r>
              <a:rPr sz="2250" b="1">
                <a:solidFill>
                  <a:srgbClr val="0B0F19"/>
                </a:solidFill>
              </a:rPr>
              <a:t>不是再做一个项目管理工具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E3B5D9-1B68-4A2D-85C5-B74DD7A5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0510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E898FB-8EE4-45C4-943A-DC3F8A30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0515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而是在客户现有工具上增加一层</a:t>
            </a:r>
          </a:p>
          <a:p xmlns:a="http://schemas.openxmlformats.org/drawingml/2006/main">
            <a:pPr algn="ctr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AI诊断、Delay预警和交付闭环</a:t>
            </a:r>
          </a:p>
        </p:txBody>
      </p:sp>
    </p:spTree>
    <p:extLst>
      <p:ext uri="{BB962C8B-B14F-4D97-AF65-F5344CB8AC3E}">
        <p14:creationId xmlns:p14="http://schemas.microsoft.com/office/powerpoint/2010/main" val="4154993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A9EF70-22FE-4BEE-A5F8-99D95B40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C1197-0C78-4835-A511-448A0B93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F19"/>
                </a:solidFill>
              </a:defRPr>
            </a:pPr>
            <a:r>
              <a:rPr sz="3000" b="1">
                <a:solidFill>
                  <a:srgbClr val="0B0F19"/>
                </a:solidFill>
              </a:rPr>
              <a:t>投资判断：项目管理正在从记录工具进入AI治理层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5245EA-AABE-461B-8698-24D5DFDD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4243EA-D7A2-448D-A277-42B1584C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北京润序数智科技有限公司 · 润序数智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D82F4-0667-43E8-A68E-55A522A4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6F9B3-7C40-4BB5-BCCA-B83733D2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B0F19"/>
                </a:solidFill>
              </a:defRPr>
            </a:pPr>
            <a:r>
              <a:rPr sz="1875" b="0">
                <a:solidFill>
                  <a:srgbClr val="0B0F19"/>
                </a:solidFill>
              </a:rPr>
              <a:t>润序数智的机会不在替代飞书、Jira或禅道，而在连接这些工具，帮助企业把分散过程数据转化为可解释的管理判断和行动建议。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30F3D8-378D-46E2-A431-D0ED1842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6B35"/>
                </a:solidFill>
              </a:defRPr>
            </a:pPr>
            <a:r>
              <a:rPr sz="3900" b="1">
                <a:solidFill>
                  <a:srgbClr val="FF6B35"/>
                </a:solidFill>
              </a:rPr>
              <a:t>防Delay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B1A820-9693-45B1-A016-99CACFCE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671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提前识别延期风险、阻塞原因和责任链路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0B3BC9-8100-4ACB-A3FD-F62B7769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813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563EB"/>
                </a:solidFill>
              </a:defRPr>
            </a:pPr>
            <a:r>
              <a:rPr sz="3900" b="1">
                <a:solidFill>
                  <a:srgbClr val="2563EB"/>
                </a:solidFill>
              </a:rPr>
              <a:t>高客单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915434-5520-47D0-B194-EF506B71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6710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诊断、实施、专属云和年度订阅组合收费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86CC1D-B592-47AE-925B-247B8BC9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8130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B981"/>
                </a:solidFill>
              </a:defRPr>
            </a:pPr>
            <a:r>
              <a:rPr sz="3900" b="1">
                <a:solidFill>
                  <a:srgbClr val="10B981"/>
                </a:solidFill>
              </a:rPr>
              <a:t>可扩展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A4A497-B933-4F3D-B102-D288DE95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671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从研发交付切入，扩展到运营、咨询、内容和客服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C5B183-8A1F-4C2B-A140-90A0C8A8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930C5C-DFF1-4751-937F-D032CF38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核心结论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E1B47-DC42-44B5-A88D-F70605A0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19675"/>
            <a:ext cx="942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F19"/>
                </a:solidFill>
              </a:defRPr>
            </a:pPr>
            <a:r>
              <a:rPr sz="2025" b="1">
                <a:solidFill>
                  <a:srgbClr val="0B0F19"/>
                </a:solidFill>
              </a:rPr>
              <a:t>先卖“减少延期和返工的管理改善结果”，再沉淀为标准化AI平台；先拿标杆客户验证ROI。</a:t>
            </a:r>
          </a:p>
        </p:txBody>
      </p:sp>
    </p:spTree>
    <p:extLst>
      <p:ext uri="{BB962C8B-B14F-4D97-AF65-F5344CB8AC3E}">
        <p14:creationId xmlns:p14="http://schemas.microsoft.com/office/powerpoint/2010/main" val="16252309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1F32C0-AB1B-47F6-8D51-A2783CDC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E1C13B-1D5F-4BB5-B1A0-F2CF85C6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F19"/>
                </a:solidFill>
              </a:defRPr>
            </a:pPr>
            <a:r>
              <a:rPr sz="3000" b="1">
                <a:solidFill>
                  <a:srgbClr val="0B0F19"/>
                </a:solidFill>
              </a:rPr>
              <a:t>客户要么缺少数字化工具，要么缺少持续治理能力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FF90FE-2657-4E88-B93B-B4DDE525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9BE70-E2E9-4430-83F5-E8AA8655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北京润序数智科技有限公司 · 润序数智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62F7D1-011C-4E35-83BA-76B5B210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AA9429-AC95-44BD-842E-D12D4FED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3429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E1E06-923B-4B25-92F6-FE27BD76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C791C2-454E-4D96-881F-44CFE5E6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需求不清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910A72-6C65-4A7A-BB18-56B8CDB9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PRD、需求、任务和验收标准散落在文档、表格与聊天记录中，边界不清导致反复返工。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1B439D-1AC9-498F-99FB-A1F4ACD0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57350"/>
            <a:ext cx="3429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B1DE41-4AF4-4F2F-B7D7-7A0FBF13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573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00AF07-BF6D-404C-AA8F-22535320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669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Delay失控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787BC8-E519-49F5-9DE4-0B2847DC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05050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很多项目不是突然延期，而是需求、依赖、资源和阻塞长期未被识别，直到临近交付才暴露。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CA3803-2B2D-463B-ADC4-8F1796CF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57350"/>
            <a:ext cx="3429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7F7724-9C18-4C69-9693-76343741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573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29C15F-BDAC-4197-9E5F-DEBD3D2F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669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过程不透明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4DF960-D83D-46DA-86B3-6CD95456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05050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老板看到的是汇总结果，看不到需求质量、阻塞依赖、资源瓶颈和责任链路。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650B9D-863C-4860-BD88-7B4096D9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0"/>
            <a:ext cx="3429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D88860-58C4-45FD-BE1E-D8C21A50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70D430-C180-4F4E-A19A-60528797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复盘不沉淀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F5EF38-D3F7-45C2-B146-B3FD53B9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302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项目结束后经验留在个人脑子里，下一次仍然重复同样的错误。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B644CA-C07E-49DD-9601-B1D894DF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3429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482CFB-723D-4685-826B-A2D459B7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8202E0-5BEE-407B-9B84-2841CA89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1955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工具缺失或割裂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88F25F-E3FB-423D-9024-0B18C1C6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57700"/>
            <a:ext cx="302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一类客户仍靠微信群、Excel和人工催办推进；另一类客户工具很多，但缺少统一判断层。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AD91A5-B41B-496D-A6D9-59067223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10000"/>
            <a:ext cx="3429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889C29-B9E0-45C0-A51A-3D89C348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100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9A8A93-A4E6-469D-9D61-83491C2B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1955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AI难落地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1BC494-F430-4289-BCF6-71C28EB7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57700"/>
            <a:ext cx="302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通用大模型能生成文本，但缺少场景、数据、权限、证据和责任边界。</a:t>
            </a:r>
          </a:p>
        </p:txBody>
      </p:sp>
    </p:spTree>
    <p:extLst>
      <p:ext uri="{BB962C8B-B14F-4D97-AF65-F5344CB8AC3E}">
        <p14:creationId xmlns:p14="http://schemas.microsoft.com/office/powerpoint/2010/main" val="4739918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EEC4EF-66F0-4B92-974B-2F7671DC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1BDC3-A2CA-45E0-AB9F-8862EED1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F19"/>
                </a:solidFill>
              </a:defRPr>
            </a:pPr>
            <a:r>
              <a:rPr sz="3000" b="1">
                <a:solidFill>
                  <a:srgbClr val="0B0F19"/>
                </a:solidFill>
              </a:rPr>
              <a:t>市场窗口：AI让协作软件重新定义价值边界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4CF7DD-6BCF-4745-9BCD-9FAA0CAA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C513B-C484-44F0-A1E0-BCAC7618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北京润序数智科技有限公司 · 润序数智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264AE0-C67D-4D4D-AD99-E8952B58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7A2884-1E68-4C44-8D9B-E2FCDDF1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外部验证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8530C9-AF03-4805-ACE2-8E16EE68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CD6F3C-4DF9-4EA6-AC20-EA23B037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735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F19"/>
                </a:solidFill>
              </a:defRPr>
            </a:pPr>
            <a:r>
              <a:rPr sz="1650" b="0">
                <a:solidFill>
                  <a:srgbClr val="0B0F19"/>
                </a:solidFill>
              </a:rPr>
              <a:t>CNNIC：截至2023年12月，中国网民10.92亿，互联网普及率77.5%。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187121-F73E-4712-B96C-928CE02E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443FFB-855D-4E5F-8A76-1ACE396F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735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F19"/>
                </a:solidFill>
              </a:defRPr>
            </a:pPr>
            <a:r>
              <a:rPr sz="1650" b="0">
                <a:solidFill>
                  <a:srgbClr val="0B0F19"/>
                </a:solidFill>
              </a:rPr>
              <a:t>AsanaFY2025收入7.239亿美元，服务超过16.9万客户。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6AA1A9-C0A7-4EC0-A25C-420F31D3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9B5268-8CC5-4EE3-8D60-B438CFAE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735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F19"/>
                </a:solidFill>
              </a:defRPr>
            </a:pPr>
            <a:r>
              <a:rPr sz="1650" b="0">
                <a:solidFill>
                  <a:srgbClr val="0B0F19"/>
                </a:solidFill>
              </a:rPr>
              <a:t>Asana提出AI将扩大工作管理平台的可服务工作流，验证“人机协同编排层”的方向。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3F28F2-6918-4988-BBDE-98840D20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524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为什么现在做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A5FF32-53D1-494F-B5D8-AE0A511B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1930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D"/>
          </a:solidFill>
          <a:ln xmlns:a="http://schemas.openxmlformats.org/drawingml/2006/main" w="9525">
            <a:solidFill>
              <a:srgbClr val="FFD7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08F0EF-7F51-49E2-A6B4-A1CEA184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717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状态 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C0E2AC-C836-42CA-A19A-85685F54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384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9"/>
                </a:solidFill>
              </a:defRPr>
            </a:pPr>
            <a:r>
              <a:rPr sz="1650" b="1">
                <a:solidFill>
                  <a:srgbClr val="0B0F19"/>
                </a:solidFill>
              </a:rPr>
              <a:t>无工具、无流程、无秩序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DF14E9-5821-46EB-9738-360400A2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0515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A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694909-E745-415F-A458-82917A46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766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状态 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7D4D23-7CA5-4BC0-B347-2CF69329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433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9"/>
                </a:solidFill>
              </a:defRPr>
            </a:pPr>
            <a:r>
              <a:rPr sz="1650" b="1">
                <a:solidFill>
                  <a:srgbClr val="0B0F19"/>
                </a:solidFill>
              </a:rPr>
              <a:t>有工具，但过程数据</a:t>
            </a:r>
          </a:p>
          <a:p xmlns:a="http://schemas.openxmlformats.org/drawingml/2006/main">
            <a:pPr algn="l">
              <a:defRPr sz="1650" b="1">
                <a:solidFill>
                  <a:srgbClr val="0B0F19"/>
                </a:solidFill>
              </a:defRPr>
            </a:pPr>
            <a:r>
              <a:rPr sz="1650" b="1">
                <a:solidFill>
                  <a:srgbClr val="0B0F19"/>
                </a:solidFill>
              </a:rPr>
              <a:t>没有被治理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DF50F8-EDB4-47BC-9768-19687F1F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00550"/>
            <a:ext cx="285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DF6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C4E7E5-2304-4650-A024-117A99DB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552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B981"/>
                </a:solidFill>
              </a:defRPr>
            </a:pPr>
            <a:r>
              <a:rPr sz="1275" b="1">
                <a:solidFill>
                  <a:srgbClr val="10B981"/>
                </a:solidFill>
              </a:rPr>
              <a:t>润序数智机会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35FD90-C7A8-46AB-84E5-975D926E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8387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补工具、建秩序、做AI治理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49E35B-605E-4402-A3C2-55DC7FC3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Sources: CNNIC 第53次报告；Asana FY2025 Results</a:t>
            </a:r>
          </a:p>
        </p:txBody>
      </p:sp>
    </p:spTree>
    <p:extLst>
      <p:ext uri="{BB962C8B-B14F-4D97-AF65-F5344CB8AC3E}">
        <p14:creationId xmlns:p14="http://schemas.microsoft.com/office/powerpoint/2010/main" val="5452277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F53F91-6CA2-44A7-BF56-235C3620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D4413-C67E-437E-9F4A-D899EFA8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F19"/>
                </a:solidFill>
              </a:defRPr>
            </a:pPr>
            <a:r>
              <a:rPr sz="3000" b="1">
                <a:solidFill>
                  <a:srgbClr val="0B0F19"/>
                </a:solidFill>
              </a:rPr>
              <a:t>首批客户应聚焦“有复杂项目、有预算、有数据基础”的组织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936E4-61FC-45EF-9D1B-E37FC648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9137A-EA35-4997-8C83-00D09767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北京润序数智科技有限公司 · 润序数智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1F6E73-B6E4-4342-9F23-96B44969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C4893-4575-4436-9A37-169DF689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2333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03A44C-7C92-4C8B-B6BB-2DC30ABC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879558-1D4B-480A-B1BA-4606AFA6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软件/AI创业公司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478ECC-3F9C-4D0A-87AF-6730C067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93357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20–300人；需求变化快、项目风险高、研发和产品协作压力大。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6150B8-F451-4F30-BB2A-55B1C084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638300"/>
            <a:ext cx="2333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02C571-B7E4-47CC-8FF4-DDC97852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63830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44705C-F640-4559-A87F-F8ADAF15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84785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制造/传统企业数字化团队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953288-3DC6-4AA4-9681-886CC481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286000"/>
            <a:ext cx="193357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50–1000人；跨部门项目多、供应商协同难、过程难追溯。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8B2E3C-43E7-41B3-BAA4-0D8A0AB6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38300"/>
            <a:ext cx="2333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12DC22-3F09-46B4-BA39-A99F9571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3830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AC4BFA-35F3-4837-A160-53C0AC9F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4785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咨询/交付型机构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E5FCE1-E226-40A1-8771-8BC123F9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86000"/>
            <a:ext cx="193357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10–200人；顾问交付依赖个人经验，报告生产和复盘成本高。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8FBC1B-744F-4248-9770-CFBCA3ED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638300"/>
            <a:ext cx="2333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A4C397-1104-4BAB-8E72-983983C1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63830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BC850C-FC94-4431-A8DF-13DDF77B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84785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运营/内容团队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0D1FFB-2F95-456D-B12A-06AEEAB7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286000"/>
            <a:ext cx="193357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5–100人；活动、素材、任务和复盘分散，推进靠人催。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96E4B6-FB0E-495D-AE43-9F2977B0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10687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BAAA00-9525-4B02-92F1-EEF47355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最佳早期ICP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087DBC-1E10-400C-A861-920D3298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720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F19"/>
                </a:solidFill>
              </a:defRPr>
            </a:pPr>
            <a:r>
              <a:rPr sz="1950" b="1">
                <a:solidFill>
                  <a:srgbClr val="0B0F19"/>
                </a:solidFill>
              </a:rPr>
              <a:t>没有数字化工具、流程混乱的企业，或已有飞书/表格/Jira/禅道但无法稳定看到风险和改进闭环的企业团队。</a:t>
            </a:r>
          </a:p>
        </p:txBody>
      </p:sp>
    </p:spTree>
    <p:extLst>
      <p:ext uri="{BB962C8B-B14F-4D97-AF65-F5344CB8AC3E}">
        <p14:creationId xmlns:p14="http://schemas.microsoft.com/office/powerpoint/2010/main" val="756683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BC9567-EB69-497A-8B4B-483B8FD4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2F338-DC81-405B-AFCB-DFFB78E7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F19"/>
                </a:solidFill>
              </a:defRPr>
            </a:pPr>
            <a:r>
              <a:rPr sz="3000" b="1">
                <a:solidFill>
                  <a:srgbClr val="0B0F19"/>
                </a:solidFill>
              </a:rPr>
              <a:t>润序数智提供客户现有工具之上的AI治理层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6A70D-3B0C-4F2C-A248-C27EC1A6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55B551-D574-426B-AB20-9D66BF07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北京润序数智科技有限公司 · 润序数智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14490-EDC1-4D55-8C26-387F06A4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1F0D39-D61A-469E-9FDE-660A49C2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24288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449DF-28E7-419B-B850-AECB2547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86D8F4-8EFD-4E6E-AEE8-5C185D02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数据连接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B32E20-F588-4164-85D0-72E390A2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20288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飞书、表格、Jira、禅道、Git、文档、知识库和历史项目。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85696-7E99-45DB-90B3-D41D8DF1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95450"/>
            <a:ext cx="24288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F1F792-A08A-4742-9569-3FB10E16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954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08738F-9761-4C0F-A033-7699205F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0500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统一模型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02C36B-5B11-44F5-9176-7ACC1F8B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43150"/>
            <a:ext cx="20288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把需求、任务、缺陷、风险、成员、文档和产出映射为统一任务模型。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D4A864-CAF2-462B-A696-CF7EB0F7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95450"/>
            <a:ext cx="24288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6F2775-5F63-4F1E-A565-CFA532C9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954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309336-48B4-44C9-8A20-204070AC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0500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Agent协同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81BD7F-2544-448F-BA53-F166C362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43150"/>
            <a:ext cx="20288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需求分析、风险识别、质量检查、效能分析、报告生成等Agent共同工作。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B3E369-3D00-4F76-9E3E-2E449F7C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95450"/>
            <a:ext cx="24288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9FDA75-C104-47D7-B054-DBDFD940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954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866F33-0581-4017-8FF1-BF4578F3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0500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治理闭环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9ED597-D547-4EEF-BFF3-12B74635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43150"/>
            <a:ext cx="20288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诊断报告、看板、建议、审批回写、通知和复盘沉淀。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07BE34-851F-422A-B4A6-E74236C0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77190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6CD683-2B63-4329-A2BD-70CF7ED9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连接客户已有工具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0BAE26-4E28-4CF3-A8A0-4B20CE4B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0576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形成可解释判断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332844-F225-4E34-ABCE-9CCF92C7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576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输出管理行动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17F7B6-173D-463A-A1D5-F1A69172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576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沉淀组织资产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FCA1DC-7E99-4EFE-AF62-EB3D3167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F19"/>
                </a:solidFill>
              </a:defRPr>
            </a:pPr>
            <a:r>
              <a:rPr sz="2025" b="1">
                <a:solidFill>
                  <a:srgbClr val="0B0F19"/>
                </a:solidFill>
              </a:rPr>
              <a:t>产品原则：默认只读、证据可追溯、人工审批回写、规则与模型双引擎。</a:t>
            </a:r>
          </a:p>
        </p:txBody>
      </p:sp>
    </p:spTree>
    <p:extLst>
      <p:ext uri="{BB962C8B-B14F-4D97-AF65-F5344CB8AC3E}">
        <p14:creationId xmlns:p14="http://schemas.microsoft.com/office/powerpoint/2010/main" val="6033001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1EC7CB-50FB-4720-BDCF-70E38418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28A2F-D060-4E4A-BEBE-DA6FEE26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F19"/>
                </a:solidFill>
              </a:defRPr>
            </a:pPr>
            <a:r>
              <a:rPr sz="3000" b="1">
                <a:solidFill>
                  <a:srgbClr val="0B0F19"/>
                </a:solidFill>
              </a:rPr>
              <a:t>产品由四个核心模块构成，先服务高价值场景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9AB154-3647-47F1-8868-79387423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C8E78-5D1F-4FC6-995C-2095179A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北京润序数智科技有限公司 · 润序数智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07018D-CE18-489B-BBD4-D84B0E82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CB6F06-3196-4D62-9BD7-E4A737A3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5048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DA38E-537C-4310-8714-DA14687B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62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CE7359-BBCA-4EA2-851B-AE680B6F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AI协同工作台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DC501C-70B1-4F84-B0AA-1D67B2B4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648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目标、任务、风险、进度、Delay预警、产出和复盘集中管理。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9C0403-4CF7-42DE-B98D-81966175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5048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73F0A9-1B03-4A93-BC3F-C122C817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762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A1259A-6DDA-46F4-AF67-64556F05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8595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Agent协同中心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DE157F-282C-4CEF-8C50-083E8177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24100"/>
            <a:ext cx="4648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按任务调用需求分析、延期风险识别、质量检查、知识检索和报告Agent。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3D007D-ED4C-48EE-9192-1B2DB098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5048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EC516C-1539-4528-B071-2A6CFD8D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762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0F5002-91A3-40C6-B4D7-2E20FB89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知识与数据底座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50CF96-55D0-493B-B8CB-988B7813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4648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接入业务系统、文档和历史案例，形成可检索、可追溯上下文。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08F2CA-EB54-4549-A1D6-C8775A3F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5048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8FBEC9-918A-41CB-B75D-F28D0FDD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762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DC10B8-696C-4AEF-8070-1F01370C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4330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报告与治理闭环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CB705C-14DA-49B7-97F1-96D879C7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81450"/>
            <a:ext cx="4648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输出诊断报告、改进计划、周报、看板和复盘材料。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010208-70C3-4178-BD02-1A4FA48A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9"/>
                </a:solidFill>
              </a:defRPr>
            </a:pPr>
            <a:r>
              <a:rPr sz="1875" b="1">
                <a:solidFill>
                  <a:srgbClr val="0B0F19"/>
                </a:solidFill>
              </a:rPr>
              <a:t>首个标杆场景：研发交付治理；后续扩展到运营增长、咨询交付、内容生产、客户成功。</a:t>
            </a:r>
          </a:p>
        </p:txBody>
      </p:sp>
    </p:spTree>
    <p:extLst>
      <p:ext uri="{BB962C8B-B14F-4D97-AF65-F5344CB8AC3E}">
        <p14:creationId xmlns:p14="http://schemas.microsoft.com/office/powerpoint/2010/main" val="1114217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1C59E0-EE39-4CFC-96F6-6CB59121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5F33F-B53E-4869-9418-D87B7139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F19"/>
                </a:solidFill>
              </a:defRPr>
            </a:pPr>
            <a:r>
              <a:rPr sz="3000" b="1">
                <a:solidFill>
                  <a:srgbClr val="0B0F19"/>
                </a:solidFill>
              </a:rPr>
              <a:t>从研发交付切入，是为了拿到最明确的ROI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0EFCB6-669A-49CB-930D-AE23F7FA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E8A57-2582-40A8-BDF5-A6110D86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北京润序数智科技有限公司 · 润序数智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4EEB5-DF2B-403F-B6BE-43A68E41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43347D-466D-488A-BBF0-D957AAA1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切入场景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C60730-D2DF-4C0C-8280-C70CDFAE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CB3C0-0786-4956-8EA7-023EE7FB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5734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F19"/>
                </a:solidFill>
              </a:defRPr>
            </a:pPr>
            <a:r>
              <a:rPr sz="1650" b="0">
                <a:solidFill>
                  <a:srgbClr val="0B0F19"/>
                </a:solidFill>
              </a:rPr>
              <a:t>客户已有需求、任务、缺陷、迭代和交付数据，容易做只读诊断。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569584-7778-46D4-BD4F-899E53E1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5B9851-9348-460C-8025-C3DD1698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5734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F19"/>
                </a:solidFill>
              </a:defRPr>
            </a:pPr>
            <a:r>
              <a:rPr sz="1650" b="0">
                <a:solidFill>
                  <a:srgbClr val="0B0F19"/>
                </a:solidFill>
              </a:rPr>
              <a:t>项目Delay、返工、缺陷、需求变更都可以转化为可量化指标。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58EBF9-6368-40C5-94AC-208AB23D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DAA06C-3108-4412-9D42-4AE7F671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5734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F19"/>
                </a:solidFill>
              </a:defRPr>
            </a:pPr>
            <a:r>
              <a:rPr sz="1650" b="0">
                <a:solidFill>
                  <a:srgbClr val="0B0F19"/>
                </a:solidFill>
              </a:rPr>
              <a:t>购买人通常是CEO、CTO、PMO、产品/研发负责人，预算路径清晰。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62D687-3332-4409-BBC9-390BB9E9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2400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C1E154-D9A2-4F75-83D9-81622285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0F19"/>
                </a:solidFill>
              </a:defRPr>
            </a:pPr>
            <a:r>
              <a:rPr sz="2100" b="1">
                <a:solidFill>
                  <a:srgbClr val="0B0F19"/>
                </a:solidFill>
              </a:rPr>
              <a:t>诊断闭环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D18872-7FC3-4829-A7FD-B4DB4CFF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19350"/>
            <a:ext cx="1905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B0F19"/>
                </a:solidFill>
              </a:defRPr>
            </a:pPr>
            <a:r>
              <a:rPr sz="2175" b="1">
                <a:solidFill>
                  <a:srgbClr val="0B0F19"/>
                </a:solidFill>
              </a:rPr>
              <a:t>需求质量</a:t>
            </a:r>
          </a:p>
          <a:p xmlns:a="http://schemas.openxmlformats.org/drawingml/2006/main">
            <a:pPr algn="ctr">
              <a:defRPr sz="2175" b="1">
                <a:solidFill>
                  <a:srgbClr val="0B0F19"/>
                </a:solidFill>
              </a:defRPr>
            </a:pPr>
            <a:r>
              <a:rPr sz="2175" b="1">
                <a:solidFill>
                  <a:srgbClr val="0B0F19"/>
                </a:solidFill>
              </a:rPr>
              <a:t>↓</a:t>
            </a:r>
          </a:p>
          <a:p xmlns:a="http://schemas.openxmlformats.org/drawingml/2006/main">
            <a:pPr algn="ctr">
              <a:defRPr sz="2175" b="1">
                <a:solidFill>
                  <a:srgbClr val="0B0F19"/>
                </a:solidFill>
              </a:defRPr>
            </a:pPr>
            <a:r>
              <a:rPr sz="2175" b="1">
                <a:solidFill>
                  <a:srgbClr val="0B0F19"/>
                </a:solidFill>
              </a:rPr>
              <a:t>Delay预警</a:t>
            </a:r>
          </a:p>
          <a:p xmlns:a="http://schemas.openxmlformats.org/drawingml/2006/main">
            <a:pPr algn="ctr">
              <a:defRPr sz="2175" b="1">
                <a:solidFill>
                  <a:srgbClr val="0B0F19"/>
                </a:solidFill>
              </a:defRPr>
            </a:pPr>
            <a:r>
              <a:rPr sz="2175" b="1">
                <a:solidFill>
                  <a:srgbClr val="0B0F19"/>
                </a:solidFill>
              </a:rPr>
              <a:t>↓</a:t>
            </a:r>
          </a:p>
          <a:p xmlns:a="http://schemas.openxmlformats.org/drawingml/2006/main">
            <a:pPr algn="ctr">
              <a:defRPr sz="2175" b="1">
                <a:solidFill>
                  <a:srgbClr val="0B0F19"/>
                </a:solidFill>
              </a:defRPr>
            </a:pPr>
            <a:r>
              <a:rPr sz="2175" b="1">
                <a:solidFill>
                  <a:srgbClr val="0B0F19"/>
                </a:solidFill>
              </a:rPr>
              <a:t>阻塞定位</a:t>
            </a:r>
          </a:p>
          <a:p xmlns:a="http://schemas.openxmlformats.org/drawingml/2006/main">
            <a:pPr algn="ctr">
              <a:defRPr sz="2175" b="1">
                <a:solidFill>
                  <a:srgbClr val="0B0F19"/>
                </a:solidFill>
              </a:defRPr>
            </a:pPr>
            <a:r>
              <a:rPr sz="2175" b="1">
                <a:solidFill>
                  <a:srgbClr val="0B0F19"/>
                </a:solidFill>
              </a:rPr>
              <a:t>↓</a:t>
            </a:r>
          </a:p>
          <a:p xmlns:a="http://schemas.openxmlformats.org/drawingml/2006/main">
            <a:pPr algn="ctr">
              <a:defRPr sz="2175" b="1">
                <a:solidFill>
                  <a:srgbClr val="0B0F19"/>
                </a:solidFill>
              </a:defRPr>
            </a:pPr>
            <a:r>
              <a:rPr sz="2175" b="1">
                <a:solidFill>
                  <a:srgbClr val="0B0F19"/>
                </a:solidFill>
              </a:rPr>
              <a:t>改进计划</a:t>
            </a:r>
          </a:p>
          <a:p xmlns:a="http://schemas.openxmlformats.org/drawingml/2006/main">
            <a:pPr algn="ctr">
              <a:defRPr sz="2175" b="1">
                <a:solidFill>
                  <a:srgbClr val="0B0F19"/>
                </a:solidFill>
              </a:defRPr>
            </a:pPr>
            <a:r>
              <a:rPr sz="2175" b="1">
                <a:solidFill>
                  <a:srgbClr val="0B0F19"/>
                </a:solidFill>
              </a:rPr>
              <a:t>↓</a:t>
            </a:r>
          </a:p>
          <a:p xmlns:a="http://schemas.openxmlformats.org/drawingml/2006/main">
            <a:pPr algn="ctr">
              <a:defRPr sz="2175" b="1">
                <a:solidFill>
                  <a:srgbClr val="0B0F19"/>
                </a:solidFill>
              </a:defRPr>
            </a:pPr>
            <a:r>
              <a:rPr sz="2175" b="1">
                <a:solidFill>
                  <a:srgbClr val="0B0F19"/>
                </a:solidFill>
              </a:rPr>
              <a:t>复盘沉淀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E1DCBD-ADF9-4D4C-8A84-5BBA0FE9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F19"/>
                </a:solidFill>
              </a:defRPr>
            </a:pPr>
            <a:r>
              <a:rPr sz="1950" b="1">
                <a:solidFill>
                  <a:srgbClr val="0B0F19"/>
                </a:solidFill>
              </a:rPr>
              <a:t>不把公司定位锁死在研发，而是用研发交付做第一块可验证样板。</a:t>
            </a:r>
          </a:p>
        </p:txBody>
      </p:sp>
    </p:spTree>
    <p:extLst>
      <p:ext uri="{BB962C8B-B14F-4D97-AF65-F5344CB8AC3E}">
        <p14:creationId xmlns:p14="http://schemas.microsoft.com/office/powerpoint/2010/main" val="11106175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891358-BEE2-436E-A789-8EADA77F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2CF4E9-8145-4A57-8CB8-13501F92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F19"/>
                </a:solidFill>
              </a:defRPr>
            </a:pPr>
            <a:r>
              <a:rPr sz="3000" b="1">
                <a:solidFill>
                  <a:srgbClr val="0B0F19"/>
                </a:solidFill>
              </a:rPr>
              <a:t>商业模式：服务验证价值，平台复制交付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5C100C-11F1-45C0-8EB8-01A14750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582805-D27E-4193-9A4A-6FB96F96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北京润序数智科技有限公司 · 润序数智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CA228D-B18E-488E-A84A-56EB3DA6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EE5C50-6BC8-4C08-AA75-325733B5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2571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BAF56-807C-499F-9985-7BE4E124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F3C468-EB16-416F-8232-67FF9499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诊断服务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4480F-0DD0-4485-9F02-DEB14E4B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2171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1–5万元/次；交付项目健康诊断、问题清单和改进路线。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784616-0FBF-47E1-8C4B-D66C65EB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76400"/>
            <a:ext cx="2571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D60C8A-7971-43D4-A350-4F5DB421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764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08E990-0CF1-492F-9C6A-7901F170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859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实施交付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5DA2C8-9C6D-442F-BE36-0173B9B7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24100"/>
            <a:ext cx="2171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5–30万元/项目；配置流程、字段、知识库、看板和Agent。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27D981-26B0-4DAB-AC20-8AEA807D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76400"/>
            <a:ext cx="2571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A58637-E779-4AE3-855F-B8605CF9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764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AB6836-3511-4C10-9552-741BDBA3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859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平台订阅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5BCDC0-8645-4E56-A109-88A2E2A0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24100"/>
            <a:ext cx="2171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3–20万元/年；按空间、账号、连接器和Agent任务量收费。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E310B0-2E5E-4063-A47D-015E9760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676400"/>
            <a:ext cx="2571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FBD1DB-0ABC-43E3-B7F9-3E07CAE7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6764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89C5A7-F9D0-4731-B5BB-14EEE462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8859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专属云/私有化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A8B33C-FE73-40BD-BC84-D97EB7E4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24100"/>
            <a:ext cx="2171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20–100万元+/年；满足高安全、隔离和SLA客户。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515997-2A96-44EE-BD73-A2E1C2D5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10687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86A9D4-AA70-4344-A0FC-8F2CD7F7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关键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3B4469-5911-4537-901F-BC694E5A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F19"/>
                </a:solidFill>
              </a:defRPr>
            </a:pPr>
            <a:r>
              <a:rPr sz="2025" b="1">
                <a:solidFill>
                  <a:srgbClr val="0B0F19"/>
                </a:solidFill>
              </a:rPr>
              <a:t>早期不做低价工具账号竞争；定价锚点应放在项目延期、返工、管理人力和客户满意度改善上。</a:t>
            </a:r>
          </a:p>
        </p:txBody>
      </p:sp>
    </p:spTree>
    <p:extLst>
      <p:ext uri="{BB962C8B-B14F-4D97-AF65-F5344CB8AC3E}">
        <p14:creationId xmlns:p14="http://schemas.microsoft.com/office/powerpoint/2010/main" val="19802811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69AC5A-53E5-4208-A924-F550CDDC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9B9E0-D0B3-4E61-9AF4-3776A857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F19"/>
                </a:solidFill>
              </a:defRPr>
            </a:pPr>
            <a:r>
              <a:rPr sz="3000" b="1">
                <a:solidFill>
                  <a:srgbClr val="0B0F19"/>
                </a:solidFill>
              </a:rPr>
              <a:t>市场规模用三层口径说明，比单一宏观数字更可信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669990-20B7-467D-85E2-7A02C5F0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C1153-465C-4EEC-AFF6-875B0C2B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北京润序数智科技有限公司 · 润序数智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0723B-8FC6-4663-8338-B559AD05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2591B-1EA4-44C0-9FD9-74010D6C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TAM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F9F98-79D8-4205-B7C5-20E60183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6192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0F19"/>
                </a:solidFill>
              </a:defRPr>
            </a:pPr>
            <a:r>
              <a:rPr sz="1725" b="0">
                <a:solidFill>
                  <a:srgbClr val="0B0F19"/>
                </a:solidFill>
              </a:rPr>
              <a:t>所有存在复杂协作的企业团队、机构和专业个人，属于企业协作软件、AI应用和管理咨询的交叉市场。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910F05-F82D-4206-BF1A-9CCCF219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SAM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AB408E-F2A8-4981-A761-52DB75FD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6479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0F19"/>
                </a:solidFill>
              </a:defRPr>
            </a:pPr>
            <a:r>
              <a:rPr sz="1725" b="0">
                <a:solidFill>
                  <a:srgbClr val="0B0F19"/>
                </a:solidFill>
              </a:rPr>
              <a:t>软件研发、数字化项目、咨询交付、内容运营等项目型组织，是最先具备数据基础和付费动机的可服务市场。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5996F5-F604-47CD-89B8-D946E3CD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B981"/>
                </a:solidFill>
              </a:defRPr>
            </a:pPr>
            <a:r>
              <a:rPr sz="2550" b="1">
                <a:solidFill>
                  <a:srgbClr val="10B981"/>
                </a:solidFill>
              </a:rPr>
              <a:t>SOM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9EC046-A18B-411D-B688-4E0753D5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6766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9"/>
                </a:solidFill>
              </a:defRPr>
            </a:pPr>
            <a:r>
              <a:rPr sz="1725" b="1">
                <a:solidFill>
                  <a:srgbClr val="0B0F19"/>
                </a:solidFill>
              </a:rPr>
              <a:t>前1–2年目标20–50家企业客户；按年化10–30万元/客户，形成约200万–1500万元收入区间。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005882-2071-44F5-A810-2C643079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24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F19"/>
                </a:solidFill>
              </a:defRPr>
            </a:pPr>
            <a:r>
              <a:rPr sz="1275" b="0">
                <a:solidFill>
                  <a:srgbClr val="0B0F19"/>
                </a:solidFill>
              </a:rPr>
              <a:t>Year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41D674-70EA-4C26-872E-F8978C2A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200650"/>
            <a:ext cx="6858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5BEB55-FC45-46C2-AA1E-442304E5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200650"/>
            <a:ext cx="1504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577E1B-6964-46FE-9CC1-8A64C257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543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F19"/>
                </a:solidFill>
              </a:defRPr>
            </a:pPr>
            <a:r>
              <a:rPr sz="1275" b="0">
                <a:solidFill>
                  <a:srgbClr val="0B0F19"/>
                </a:solidFill>
              </a:rPr>
              <a:t>Year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34FD71-0662-4991-BAF9-91EC8D7F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619750"/>
            <a:ext cx="6858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E8511E-8ADF-4A46-B5FB-1AE837A8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619750"/>
            <a:ext cx="3771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2717D8-93B0-4FFE-9773-388DF47F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962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F19"/>
                </a:solidFill>
              </a:defRPr>
            </a:pPr>
            <a:r>
              <a:rPr sz="1275" b="0">
                <a:solidFill>
                  <a:srgbClr val="0B0F19"/>
                </a:solidFill>
              </a:rPr>
              <a:t>Year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2BDC1B-4E17-4A53-B3B2-5DA3857B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038850"/>
            <a:ext cx="6858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A43376-4363-4787-A506-78196947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038850"/>
            <a:ext cx="603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D5DDFE-0A82-4381-B5A0-CF59AA42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9531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示意：客户数与ARR增长，不代表承诺预测</a:t>
            </a:r>
          </a:p>
        </p:txBody>
      </p:sp>
    </p:spTree>
    <p:extLst>
      <p:ext uri="{BB962C8B-B14F-4D97-AF65-F5344CB8AC3E}">
        <p14:creationId xmlns:p14="http://schemas.microsoft.com/office/powerpoint/2010/main" val="14171655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5B86B8-7CF9-4B4A-A369-E88C7AA4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F905C-3052-4709-950A-71DA4EE3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F19"/>
                </a:solidFill>
              </a:defRPr>
            </a:pPr>
            <a:r>
              <a:rPr sz="3000" b="1">
                <a:solidFill>
                  <a:srgbClr val="0B0F19"/>
                </a:solidFill>
              </a:rPr>
              <a:t>竞争策略：不替换工具，做上层诊断和治理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DA44E0-8DB8-4421-9576-26B0C9BE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8010B-19DE-41C8-9B57-2122EE14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北京润序数智科技有限公司 · 润序数智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371BFA-6529-4DCF-BC68-DB8F3E08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F9EA7-F332-4FC4-AF85-EE8F1F89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0687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1458D-EBCE-4144-AFED-9FFE07B9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替代方案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1035B-59E0-4589-BB2C-6FD21B93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19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客户现在怎么做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122416-B7BE-4B43-8A32-59AC3497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不足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1C4395-B7A9-40B5-BA81-AB1F5F7F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10687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8A66EF-01A9-4B36-967D-47D020B5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9"/>
                </a:solidFill>
              </a:defRPr>
            </a:pPr>
            <a:r>
              <a:rPr sz="1350" b="1">
                <a:solidFill>
                  <a:srgbClr val="0B0F19"/>
                </a:solidFill>
              </a:rPr>
              <a:t>飞书/钉钉/企微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4F8A51-D2DF-47C9-81F4-2598B5B9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145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协同、审批、文档、消息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5CC400-C32D-4697-A8B2-F787DDEA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145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不直接给项目治理判断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610F3F-B801-4523-BCF7-C1FC9F86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10687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88BF57-0371-4F4E-8EF2-7DA12E4A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9"/>
                </a:solidFill>
              </a:defRPr>
            </a:pPr>
            <a:r>
              <a:rPr sz="1350" b="1">
                <a:solidFill>
                  <a:srgbClr val="0B0F19"/>
                </a:solidFill>
              </a:rPr>
              <a:t>Jira/禅道/TAPD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E0DA2A-2EA1-4751-B789-F6ED2ACA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003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需求、任务、缺陷、迭代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AC5815-B0B9-4CC4-AE1F-D4DF7A80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03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记录强，复盘和跨项目洞察弱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4BA2DA-B470-4CC8-B2E0-55F92C7C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10687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C17537-86B0-4506-8DD5-B9F31E09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9"/>
                </a:solidFill>
              </a:defRPr>
            </a:pPr>
            <a:r>
              <a:rPr sz="1350" b="1">
                <a:solidFill>
                  <a:srgbClr val="0B0F19"/>
                </a:solidFill>
              </a:rPr>
              <a:t>BI/数据看板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5F659E-9131-4B8C-A8A5-BC056550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861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指标展示和趋势分析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836871-4036-4A2C-A562-76B4E167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861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能看结果，难解释原因和行动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ABEE80-7380-496A-B68B-544F166A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9550"/>
            <a:ext cx="10687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9FA36F-14E7-4625-8A66-3475C542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9"/>
                </a:solidFill>
              </a:defRPr>
            </a:pPr>
            <a:r>
              <a:rPr sz="1350" b="1">
                <a:solidFill>
                  <a:srgbClr val="0B0F19"/>
                </a:solidFill>
              </a:rPr>
              <a:t>管理咨询/PMO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9C9ECD-2E9B-4AF4-ADFB-E04FC176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719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人工诊断、制度建设、项目跟踪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4CDD4F-2709-4C2F-AC72-61FC6D5E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719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成本高，依赖个人经验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B38D1E-C7B9-4835-8EAE-C9A88BA6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05350"/>
            <a:ext cx="10687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6E480A-9D77-492C-8685-4B3C802A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9"/>
                </a:solidFill>
              </a:defRPr>
            </a:pPr>
            <a:r>
              <a:rPr sz="1350" b="1">
                <a:solidFill>
                  <a:srgbClr val="0B0F19"/>
                </a:solidFill>
              </a:rPr>
              <a:t>通用大模型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6B411C-60B7-47C8-B619-F990EC7F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57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问答、总结、报告生成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CA9184-5C30-4239-A29C-D6269A59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缺少权限、证据和流程闭环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04E09F-E6B9-4A39-85F0-26B3CB91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9"/>
                </a:solidFill>
              </a:defRPr>
            </a:pPr>
            <a:r>
              <a:rPr sz="1875" b="1">
                <a:solidFill>
                  <a:srgbClr val="0B0F19"/>
                </a:solidFill>
              </a:rPr>
              <a:t>润序数智的差异：连接现有工具，输出证据化诊断、Agent协同建议和持续治理闭环。</a:t>
            </a:r>
          </a:p>
        </p:txBody>
      </p:sp>
    </p:spTree>
    <p:extLst>
      <p:ext uri="{BB962C8B-B14F-4D97-AF65-F5344CB8AC3E}">
        <p14:creationId xmlns:p14="http://schemas.microsoft.com/office/powerpoint/2010/main" val="9951365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DD57FE-E2B8-4685-8379-6AFB1BF9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26AEB-F7C9-4111-A0CC-7A67A132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F19"/>
                </a:solidFill>
              </a:defRPr>
            </a:pPr>
            <a:r>
              <a:rPr sz="3000" b="1">
                <a:solidFill>
                  <a:srgbClr val="0B0F19"/>
                </a:solidFill>
              </a:rPr>
              <a:t>技术壁垒来自业务模型、证据链和可控Agent，而不是单纯调用大模型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90FDB-EC3F-4214-9F20-70FB0605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42CA1-4BEB-48B1-89BE-383C2E3E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北京润序数智科技有限公司 · 润序数智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7AA63-DF1C-42E9-91D1-28845E27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2D7947-B98C-43BC-9194-6C1EDAAE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33813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6EEDFD-84E2-4044-9823-4785E7ED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15DA32-9E3F-468E-AA4A-BD66C64D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2981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统一任务模型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D0A9E3-9621-4E7F-8938-99D8854E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29813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沉淀目标、需求、任务、缺陷、风险、文档、人员、产出的关系图谱。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C52EFE-F816-4EDB-85A9-0DF2D6C0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38300"/>
            <a:ext cx="33813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86AE8A-23BD-46DB-95A7-BE6F37AA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383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FB4269-A684-42E0-BD8A-DFBC072D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47850"/>
            <a:ext cx="2981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规则 + 模型双引擎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43A453-1A93-4C6B-88CD-32159005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86000"/>
            <a:ext cx="29813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CMMI/IPD/项目治理规则负责稳定判断，大模型负责理解、解释和建议。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4C90F7-2D97-451A-B8E4-20B57D45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38300"/>
            <a:ext cx="33813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904A37-9B1D-4D99-9F25-682570B4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383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A051BF-A62E-41FB-A330-002AE60E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47850"/>
            <a:ext cx="2981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证据可追溯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0901F9-30C3-4073-B69E-8A495B40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86000"/>
            <a:ext cx="29813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每个结论关联来源系统、字段、更新时间、模型版本和判断依据。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BEFF34-C3D4-4401-8613-11E48288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33813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C4BC5C-7D98-4DE3-93F8-3F04C665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FA5061-1311-4EDB-8D67-FED8DD1B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2981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受控Agent体系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78C1C1-2350-4E40-BD30-7B15B021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29813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Agent具备独立身份、权限范围、工具白名单、预算、超时和人工审批机制。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00EB0C-F9F7-417B-A68B-C2C2D2F7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14750"/>
            <a:ext cx="33813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186B89-ACB7-450B-88ED-357F3CA0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147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98C009-938B-4656-BD0D-24445A7A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24300"/>
            <a:ext cx="2981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可部署架构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6951B7-36A1-4B18-BF5B-31EA2035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62450"/>
            <a:ext cx="29813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SaaS、专属云、私有化共用代码基线，适配不同安全要求。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A6262C-4406-4153-994F-588447AD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14750"/>
            <a:ext cx="33813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9D56F1-D73F-4FD9-BDCF-B2FD938E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147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FFF495-4CA8-4493-96BA-98A73436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24300"/>
            <a:ext cx="2981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评测与复盘数据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1E7E07-AF22-4F67-A853-E0F48EF4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62450"/>
            <a:ext cx="29813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用诊断结果、采纳率和历史项目反馈持续训练规则、模板和提示策略。</a:t>
            </a:r>
          </a:p>
        </p:txBody>
      </p:sp>
    </p:spTree>
    <p:extLst>
      <p:ext uri="{BB962C8B-B14F-4D97-AF65-F5344CB8AC3E}">
        <p14:creationId xmlns:p14="http://schemas.microsoft.com/office/powerpoint/2010/main" val="20650565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03A0B2-212C-4607-820D-96E4DF75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86B6A-C56D-415E-8378-3AE24F79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F19"/>
                </a:solidFill>
              </a:defRPr>
            </a:pPr>
            <a:r>
              <a:rPr sz="3000" b="1">
                <a:solidFill>
                  <a:srgbClr val="0B0F19"/>
                </a:solidFill>
              </a:rPr>
              <a:t>落地路径：用标杆客户验证，再扩展场景模板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6070A-DA41-4EC6-ADA5-04A765D9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3D3A8-8757-433B-9D42-B7544C13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北京润序数智科技有限公司 · 润序数智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2C7EE-E24A-4932-8B55-22A584BF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51DBF-C6C8-466C-BC98-FFDCADFB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2381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A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59E1E3-3D00-4FD6-BFB0-B9F9C347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0–3个月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19CB5F-1A6B-4B9E-B41A-FE7ED4F8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F19"/>
                </a:solidFill>
              </a:defRPr>
            </a:pPr>
            <a:r>
              <a:rPr sz="2025" b="1">
                <a:solidFill>
                  <a:srgbClr val="0B0F19"/>
                </a:solidFill>
              </a:rPr>
              <a:t>MVP与标杆试点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A4FEBB-4919-457D-8EEE-2E219014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飞书/表格导入、需求分析Agent、风险诊断报告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47DC53-D9CF-48D5-842C-98279CA0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90700"/>
            <a:ext cx="2381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9ED3F5-0A04-4249-A630-8CBF59A9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57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3–6个月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F48099-339C-473A-A2F1-0C9DEA3E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527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F19"/>
                </a:solidFill>
              </a:defRPr>
            </a:pPr>
            <a:r>
              <a:rPr sz="2025" b="1">
                <a:solidFill>
                  <a:srgbClr val="0B0F19"/>
                </a:solidFill>
              </a:rPr>
              <a:t>企业闭环交付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2E9547-E71E-4635-8B16-EE23E375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4330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连接器、知识库、看板、周报/复盘、人工审批回写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378F31-27E2-410A-968E-D6061712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90700"/>
            <a:ext cx="2381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A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A05A6-BCE2-4F81-8A9A-0DB20E13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57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6–12个月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B20941-FB51-4F65-8C45-7E137EF4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527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F19"/>
                </a:solidFill>
              </a:defRPr>
            </a:pPr>
            <a:r>
              <a:rPr sz="2025" b="1">
                <a:solidFill>
                  <a:srgbClr val="0B0F19"/>
                </a:solidFill>
              </a:rPr>
              <a:t>产品化销售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6FA2C2-6E2B-4EB6-B9A4-112CF57D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4330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标准套餐、专属云部署、行业模板、客户成功流程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56AB3C-2A87-49BA-9A70-78115C61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2381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93B080-F788-437D-9C8D-09812478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57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12个月+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4DE855-E7D7-4B22-94A8-AB54DC72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527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F19"/>
                </a:solidFill>
              </a:defRPr>
            </a:pPr>
            <a:r>
              <a:rPr sz="2025" b="1">
                <a:solidFill>
                  <a:srgbClr val="0B0F19"/>
                </a:solidFill>
              </a:rPr>
              <a:t>规模化复制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06047C-B670-48C9-95F4-EE898466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54330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多场景Agent市场、生态连接器、私有化交付包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1E6450-B1FE-4157-9742-110B6ED1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9"/>
                </a:solidFill>
              </a:defRPr>
            </a:pPr>
            <a:r>
              <a:rPr sz="1725" b="1">
                <a:solidFill>
                  <a:srgbClr val="0B0F19"/>
                </a:solidFill>
              </a:rPr>
              <a:t>第一阶段成功标准：客户愿意付费，报告被管理层采纳，延期风险能提前识别，周报复盘明显减少人工工作量。</a:t>
            </a:r>
          </a:p>
        </p:txBody>
      </p:sp>
    </p:spTree>
    <p:extLst>
      <p:ext uri="{BB962C8B-B14F-4D97-AF65-F5344CB8AC3E}">
        <p14:creationId xmlns:p14="http://schemas.microsoft.com/office/powerpoint/2010/main" val="18151184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C1102A-97FC-4D32-AF16-76550CD0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8EC07-C4D7-410D-95EB-293AE6AD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F19"/>
                </a:solidFill>
              </a:defRPr>
            </a:pPr>
            <a:r>
              <a:rPr sz="3000" b="1">
                <a:solidFill>
                  <a:srgbClr val="0B0F19"/>
                </a:solidFill>
              </a:rPr>
              <a:t>团队定位：用项目治理经验驱动AI产品，而不是只做模型包装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7E860-2479-4649-83C4-7B027FF2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DA4E4-7CB2-423A-934F-C439093E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北京润序数智科技有限公司 · 润序数智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82BBBB-496B-48D1-A9DF-2EC6B3C8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A2917E-D2F3-40E5-9903-B39C62EB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4762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E1CEC7-B6D8-4A5E-8FFF-ADB6126D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F19"/>
                </a:solidFill>
              </a:defRPr>
            </a:pPr>
            <a:r>
              <a:rPr sz="2100" b="1">
                <a:solidFill>
                  <a:srgbClr val="0B0F19"/>
                </a:solidFill>
              </a:rPr>
              <a:t>北京润序数智科技有限公司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020609-F189-4684-A620-470F8D2A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</a:defRPr>
            </a:pPr>
            <a:r>
              <a:rPr sz="1650" b="0">
                <a:solidFill>
                  <a:srgbClr val="5B6472"/>
                </a:solidFill>
              </a:rPr>
              <a:t>产品方向：AI协同治理平台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6E93CD-A7CB-4E6C-A920-AD7AD19E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团队能力基础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476333-1CF7-45B3-AD7A-75AA7F77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F19"/>
                </a:solidFill>
              </a:defRPr>
            </a:pPr>
            <a:r>
              <a:rPr sz="1650" b="0">
                <a:solidFill>
                  <a:srgbClr val="0B0F19"/>
                </a:solidFill>
              </a:rPr>
              <a:t>项目管理体系</a:t>
            </a:r>
          </a:p>
          <a:p xmlns:a="http://schemas.openxmlformats.org/drawingml/2006/main">
            <a:pPr algn="l">
              <a:defRPr sz="1650" b="0">
                <a:solidFill>
                  <a:srgbClr val="0B0F19"/>
                </a:solidFill>
              </a:defRPr>
            </a:pPr>
            <a:r>
              <a:rPr sz="1650" b="0">
                <a:solidFill>
                  <a:srgbClr val="0B0F19"/>
                </a:solidFill>
              </a:rPr>
              <a:t>CMMI / IPD</a:t>
            </a:r>
          </a:p>
          <a:p xmlns:a="http://schemas.openxmlformats.org/drawingml/2006/main">
            <a:pPr algn="l">
              <a:defRPr sz="1650" b="0">
                <a:solidFill>
                  <a:srgbClr val="0B0F19"/>
                </a:solidFill>
              </a:defRPr>
            </a:pPr>
            <a:r>
              <a:rPr sz="1650" b="0">
                <a:solidFill>
                  <a:srgbClr val="0B0F19"/>
                </a:solidFill>
              </a:rPr>
              <a:t>需求质量评估</a:t>
            </a:r>
          </a:p>
          <a:p xmlns:a="http://schemas.openxmlformats.org/drawingml/2006/main">
            <a:pPr algn="l">
              <a:defRPr sz="1650" b="0">
                <a:solidFill>
                  <a:srgbClr val="0B0F19"/>
                </a:solidFill>
              </a:defRPr>
            </a:pPr>
            <a:r>
              <a:rPr sz="1650" b="0">
                <a:solidFill>
                  <a:srgbClr val="0B0F19"/>
                </a:solidFill>
              </a:rPr>
              <a:t>AI Agent产品设计</a:t>
            </a:r>
          </a:p>
          <a:p xmlns:a="http://schemas.openxmlformats.org/drawingml/2006/main">
            <a:pPr algn="l">
              <a:defRPr sz="1650" b="0">
                <a:solidFill>
                  <a:srgbClr val="0B0F19"/>
                </a:solidFill>
              </a:defRPr>
            </a:pPr>
            <a:r>
              <a:rPr sz="1650" b="0">
                <a:solidFill>
                  <a:srgbClr val="0B0F19"/>
                </a:solidFill>
              </a:rPr>
              <a:t>企业交付与诊断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ACA86A-63C0-473C-AAE4-31BCCAFA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81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F19"/>
                </a:solidFill>
              </a:defRPr>
            </a:pPr>
            <a:r>
              <a:rPr sz="2100" b="1">
                <a:solidFill>
                  <a:srgbClr val="0B0F19"/>
                </a:solidFill>
              </a:rPr>
              <a:t>需要补齐的关键角色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8CC890-E129-49A4-AD72-046D6A2A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47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612CA3-5647-469B-B9F1-FDD31D94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71700"/>
            <a:ext cx="4686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F19"/>
                </a:solidFill>
              </a:defRPr>
            </a:pPr>
            <a:r>
              <a:rPr sz="1575" b="0">
                <a:solidFill>
                  <a:srgbClr val="0B0F19"/>
                </a:solidFill>
              </a:rPr>
              <a:t>标杆客户销售：拿下首批20–50家企业客户。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5EAC50-79D0-44B6-92BA-F0D3147B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19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2B30DC-A5AB-42FD-968B-5460A0B9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43200"/>
            <a:ext cx="4686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F19"/>
                </a:solidFill>
              </a:defRPr>
            </a:pPr>
            <a:r>
              <a:rPr sz="1575" b="0">
                <a:solidFill>
                  <a:srgbClr val="0B0F19"/>
                </a:solidFill>
              </a:rPr>
              <a:t>行业解决方案：把交付经验沉淀成可复制模板。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56F686-6027-4BA3-BFED-42E11C75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90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AA4AFB-9096-4924-81B5-362209C3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14700"/>
            <a:ext cx="4686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F19"/>
                </a:solidFill>
              </a:defRPr>
            </a:pPr>
            <a:r>
              <a:rPr sz="1575" b="0">
                <a:solidFill>
                  <a:srgbClr val="0B0F19"/>
                </a:solidFill>
              </a:rPr>
              <a:t>连接器与数据工程：降低客户接入成本。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0B2612-55EA-45E4-9FD2-9B1527E8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62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6C03C4-1BC7-495B-8EBE-A9C1253D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86200"/>
            <a:ext cx="4686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F19"/>
                </a:solidFill>
              </a:defRPr>
            </a:pPr>
            <a:r>
              <a:rPr sz="1575" b="0">
                <a:solidFill>
                  <a:srgbClr val="0B0F19"/>
                </a:solidFill>
              </a:rPr>
              <a:t>模型评测与安全治理：保证Agent输出可信可控。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5A853F-BDC1-4E6D-9A82-6F40F0D4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33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C88F05-1C3C-48CC-B870-A580CBF4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57700"/>
            <a:ext cx="4686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F19"/>
                </a:solidFill>
              </a:defRPr>
            </a:pPr>
            <a:r>
              <a:rPr sz="1575" b="0">
                <a:solidFill>
                  <a:srgbClr val="0B0F19"/>
                </a:solidFill>
              </a:rPr>
              <a:t>客户成功：持续证明ROI并推动续费。</a:t>
            </a:r>
          </a:p>
        </p:txBody>
      </p:sp>
    </p:spTree>
    <p:extLst>
      <p:ext uri="{BB962C8B-B14F-4D97-AF65-F5344CB8AC3E}">
        <p14:creationId xmlns:p14="http://schemas.microsoft.com/office/powerpoint/2010/main" val="131617886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EAA1CC-FEC7-4510-96D3-2E7DF356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06446-2F1A-477C-AEC3-D91F8F2C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F19"/>
                </a:solidFill>
              </a:defRPr>
            </a:pPr>
            <a:r>
              <a:rPr sz="3000" b="1">
                <a:solidFill>
                  <a:srgbClr val="0B0F19"/>
                </a:solidFill>
              </a:rPr>
              <a:t>融资计划：先验证可复制的企业付费闭环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A1252-9404-4AAF-B93D-8E8881FC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AC23CC-C485-4A68-B4FC-814198F7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北京润序数智科技有限公司 · 润序数智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E0C29C-6031-4648-917C-3860A6A2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6205C1-0630-4520-AAA6-F919E4DB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拟融资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5A3706-ECC4-4A95-BDD7-9DC78E86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0F19"/>
                </a:solidFill>
              </a:defRPr>
            </a:pPr>
            <a:r>
              <a:rPr sz="3900" b="1">
                <a:solidFill>
                  <a:srgbClr val="0B0F19"/>
                </a:solidFill>
              </a:rPr>
              <a:t>300–500万元人民币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F7A12A-32AF-455E-8B56-C8280FD1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金额为当前BP建议口径，可按实际融资计划调整。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670040-7ADB-45D6-B211-83D32EF7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资金用途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E81CF3-A17E-4EF8-AE5C-55F2C756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F19"/>
                </a:solidFill>
              </a:defRPr>
            </a:pPr>
            <a:r>
              <a:rPr sz="1275" b="0">
                <a:solidFill>
                  <a:srgbClr val="0B0F19"/>
                </a:solidFill>
              </a:rPr>
              <a:t>产品研发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92DFAD-4FA5-43CD-8C24-104E5B3B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241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D34EB6-A549-4CF8-8614-FFE8C8D2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24100"/>
            <a:ext cx="1371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5E074A-F0AB-4F5C-AF53-16BB5B53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43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F19"/>
                </a:solidFill>
              </a:defRPr>
            </a:pPr>
            <a:r>
              <a:rPr sz="1275" b="0">
                <a:solidFill>
                  <a:srgbClr val="0B0F19"/>
                </a:solidFill>
              </a:rPr>
              <a:t>客户试点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516969-C220-43D1-8D2A-F0128B37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194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74C7CC-DD56-490A-9350-BB45B7D7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19400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1FC5A6-E729-42DF-8F10-6493DF59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F19"/>
                </a:solidFill>
              </a:defRPr>
            </a:pPr>
            <a:r>
              <a:rPr sz="1275" b="0">
                <a:solidFill>
                  <a:srgbClr val="0B0F19"/>
                </a:solidFill>
              </a:rPr>
              <a:t>销售市场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0BFE0B-0485-43E7-8B1D-439DFCA0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147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0418E8-BBA4-447E-B188-2F239044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14700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22C493-03F6-4434-A023-2E1A9067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F19"/>
                </a:solidFill>
              </a:defRPr>
            </a:pPr>
            <a:r>
              <a:rPr sz="1275" b="0">
                <a:solidFill>
                  <a:srgbClr val="0B0F19"/>
                </a:solidFill>
              </a:rPr>
              <a:t>运维合规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054CD9-D78D-404E-AE35-30536D03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100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4C0A6A-553A-46E7-BB1B-85A32555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10000"/>
            <a:ext cx="514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4416F8-8213-41D1-B8F1-FDB3E88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0"/>
            <a:ext cx="10687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527310-BFC9-4572-9C2A-E78DA96E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融资后12个月目标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540499-D0BD-4ACC-BAB6-619E034A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767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F19"/>
                </a:solidFill>
              </a:defRPr>
            </a:pPr>
            <a:r>
              <a:rPr sz="1950" b="1">
                <a:solidFill>
                  <a:srgbClr val="0B0F19"/>
                </a:solidFill>
              </a:rPr>
              <a:t>完成MVP、交付3–5个标杆客户、沉淀2–3个标准场景模板，形成可复制的诊断 + 平台订阅销售路径。</a:t>
            </a:r>
          </a:p>
        </p:txBody>
      </p:sp>
    </p:spTree>
    <p:extLst>
      <p:ext uri="{BB962C8B-B14F-4D97-AF65-F5344CB8AC3E}">
        <p14:creationId xmlns:p14="http://schemas.microsoft.com/office/powerpoint/2010/main" val="176201410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D563DF-6931-41A6-A672-8B15D313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6BF978-D4FD-473A-8B97-6610C17A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F19"/>
                </a:solidFill>
              </a:defRPr>
            </a:pPr>
            <a:r>
              <a:rPr sz="3000" b="1">
                <a:solidFill>
                  <a:srgbClr val="0B0F19"/>
                </a:solidFill>
              </a:rPr>
              <a:t>投资人应关注的下一步验证问题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F2F86-69C2-4F10-AD44-4AAE9516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FE9E97-22C9-44FA-9FBF-D3DA7B7A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北京润序数智科技有限公司 · 润序数智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1269D6-80AE-4959-84DA-B5618615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6336E6-7B41-4ED3-9700-BDEB97C6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3429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7F98F7-D407-48F0-81BE-067D21D6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950FD9-8A21-4423-89E9-D73593D3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客户是否愿意付费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C59FFD-EDED-45C0-8738-21997ED0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用3–5个标杆客户验证诊断服务、实施交付和年度订阅的真实付款意愿。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4E90B-55C7-4200-A6B0-5C0DB437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76400"/>
            <a:ext cx="3429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E422FD-BEB8-4F55-91CF-02441E8C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7640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EB9581-E029-40B4-A176-8E38B465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8595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ROI是否可量化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4C083F-3E8C-4012-9AD1-BBE15FAA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24100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用Delay提前预警率、阻塞定位、需求质量、周报时间、返工率和复盘采纳率证明价值。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EF7917-6048-4604-8260-8703ED01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76400"/>
            <a:ext cx="3429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BA19E5-3C77-4FB1-963A-7B9D1C83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7640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1ABB9A-75C3-43D1-896C-3A51DCF2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8595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交付能否标准化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2BC202-D87E-4B71-8B0F-D3D684A9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每个项目必须沉淀字段映射、规则、模板、Agent流程和案例库，降低后续边际成本。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050B24-B5DE-4C6F-9C4F-8A05DF29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0F19"/>
                </a:solidFill>
              </a:defRPr>
            </a:pPr>
            <a:r>
              <a:rPr sz="2550" b="1">
                <a:solidFill>
                  <a:srgbClr val="0B0F19"/>
                </a:solidFill>
              </a:rPr>
              <a:t>如果这三个问题被验证，润序数智就不是一次性咨询项目，而是可以从服务型收入走向平台型收入。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234E2F-2AE7-4E07-824B-C9D428CF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附注：本BP中的市场与融资测算用于早期沟通，需结合真实试点数据持续修正。</a:t>
            </a:r>
          </a:p>
        </p:txBody>
      </p:sp>
    </p:spTree>
    <p:extLst>
      <p:ext uri="{BB962C8B-B14F-4D97-AF65-F5344CB8AC3E}">
        <p14:creationId xmlns:p14="http://schemas.microsoft.com/office/powerpoint/2010/main" val="20820834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2026-07-09T15:03:34.0830000Z</dcterms:created>
  <dcterms:modified xsi:type="dcterms:W3CDTF">2026-07-09T15:03:34.0830000Z</dcterms:modified>
</coreProperties>
</file>